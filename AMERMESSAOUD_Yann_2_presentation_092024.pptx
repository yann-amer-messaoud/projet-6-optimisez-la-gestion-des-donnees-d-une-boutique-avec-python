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76" r:id="rId3"/>
    <p:sldId id="277" r:id="rId4"/>
    <p:sldId id="278" r:id="rId5"/>
    <p:sldId id="279" r:id="rId6"/>
    <p:sldId id="280" r:id="rId7"/>
    <p:sldId id="283" r:id="rId8"/>
    <p:sldId id="259" r:id="rId9"/>
    <p:sldId id="273" r:id="rId10"/>
    <p:sldId id="260" r:id="rId11"/>
    <p:sldId id="287" r:id="rId12"/>
    <p:sldId id="289" r:id="rId13"/>
    <p:sldId id="290" r:id="rId14"/>
    <p:sldId id="291" r:id="rId15"/>
    <p:sldId id="292" r:id="rId16"/>
    <p:sldId id="261" r:id="rId17"/>
    <p:sldId id="262" r:id="rId18"/>
    <p:sldId id="293" r:id="rId19"/>
  </p:sldIdLst>
  <p:sldSz cx="9144000" cy="5143500" type="screen16x9"/>
  <p:notesSz cx="6858000" cy="9144000"/>
  <p:embeddedFontLst>
    <p:embeddedFont>
      <p:font typeface="Montserrat"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ohyEog1akfKJRRdWquyApPmpAp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ER MESSAOUD" initials="AM" lastIdx="1" clrIdx="0">
    <p:extLst>
      <p:ext uri="{19B8F6BF-5375-455C-9EA6-DF929625EA0E}">
        <p15:presenceInfo xmlns:p15="http://schemas.microsoft.com/office/powerpoint/2012/main" userId="c1f9d64141ee7a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440F92CB-1813-4E62-51C9-CCD89E1A45E1}"/>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7069D45F-70F6-BFAA-9272-5E8B65BA52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51352300-B747-9A6A-41BD-594937846F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0557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0CD90DB0-0B02-A1C9-2ADB-556978A18F55}"/>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5103A421-B87C-DD49-B2FD-52B8301E85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AB95E37F-78B8-972B-D79D-8A84D165FB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4158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B70F5270-E4A9-DCCF-2CF8-F26D45F7B07E}"/>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6B24A596-6285-C51C-05BF-BBBABB31BD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98DCC5E0-0702-038A-E58B-1BE8EA0053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44366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D06C01A6-55CE-8B32-C73A-EA55B2977719}"/>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1B3C0924-BD44-6990-57E2-63FBC36AE1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3C16FBDA-51AB-F4D5-4403-E3947A629F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4519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2CDF90A7-1CDA-2008-9FDB-FEB4CAD576C1}"/>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CD137BB0-1A25-A51A-76EF-66F1718BC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a:extLst>
              <a:ext uri="{FF2B5EF4-FFF2-40B4-BE49-F238E27FC236}">
                <a16:creationId xmlns:a16="http://schemas.microsoft.com/office/drawing/2014/main" id="{EDC71ABF-7BF4-487C-FEDF-DBE76BC78A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6796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C87C0FF6-AC06-5D51-6F85-E91D02E75B87}"/>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E8581872-5DC1-02BD-ED59-3DD137C112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4941DF7F-1585-9E78-1D48-7F7A9083DC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97507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BEC63988-3D36-F2B4-6216-968F5BDA4AD4}"/>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ECA2CFF7-1681-B68F-64F4-55D196D741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9D2E5731-16F8-CCF5-E65A-7D77A78424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2346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D11EFCE7-0310-DDF3-C523-C14D62076765}"/>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9A3E6D05-5B28-B0EC-8BB3-D084D615E3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53A6E39E-4B16-ED52-D303-FC80B1C2A1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54754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E530D7B-3AD7-2B06-8CBB-D6ED57437DE1}"/>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5C507307-57C2-59D8-3824-8B8CAB557A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7451010F-B827-94F0-31A1-F97106E8D5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9611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5E745FC0-3459-053B-3DF8-2EF2082277FC}"/>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68D7471E-3234-E5C1-2891-FE5CE74DAA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B24E7596-BC4C-D46B-227C-0992686B75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90424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F8CBF4DE-78B5-DADF-E4E2-2C5949064F7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0607EA29-5049-646B-3A42-5C95283EC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179E8D5F-E001-9B95-982C-DFDA63FAA1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530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7AF510FF-0B9E-70BF-ED38-67E720F5757C}"/>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1EC2CE5D-ECDC-5F84-506A-3E344BB26E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5572C61C-D05C-CC8B-DEE9-285959EAC3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1840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3393F682-83E1-FC00-13EF-6AFF14664D8E}"/>
            </a:ext>
          </a:extLst>
        </p:cNvPr>
        <p:cNvGrpSpPr/>
        <p:nvPr/>
      </p:nvGrpSpPr>
      <p:grpSpPr>
        <a:xfrm>
          <a:off x="0" y="0"/>
          <a:ext cx="0" cy="0"/>
          <a:chOff x="0" y="0"/>
          <a:chExt cx="0" cy="0"/>
        </a:xfrm>
      </p:grpSpPr>
      <p:sp>
        <p:nvSpPr>
          <p:cNvPr id="100" name="Google Shape;100;g13f9e8f1567_0_7:notes">
            <a:extLst>
              <a:ext uri="{FF2B5EF4-FFF2-40B4-BE49-F238E27FC236}">
                <a16:creationId xmlns:a16="http://schemas.microsoft.com/office/drawing/2014/main" id="{A39949D8-A95D-DEAB-FB01-D3D67C2BD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a:extLst>
              <a:ext uri="{FF2B5EF4-FFF2-40B4-BE49-F238E27FC236}">
                <a16:creationId xmlns:a16="http://schemas.microsoft.com/office/drawing/2014/main" id="{F8D8354B-E71F-95A9-0F1A-4FAD55C076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1706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55" name="Google Shape;55;p1"/>
          <p:cNvSpPr txBox="1"/>
          <p:nvPr/>
        </p:nvSpPr>
        <p:spPr>
          <a:xfrm>
            <a:off x="580350" y="1250549"/>
            <a:ext cx="7983300" cy="894000"/>
          </a:xfrm>
          <a:prstGeom prst="rect">
            <a:avLst/>
          </a:prstGeom>
          <a:noFill/>
          <a:ln>
            <a:noFill/>
          </a:ln>
        </p:spPr>
        <p:txBody>
          <a:bodyPr spcFirstLastPara="1" wrap="square" lIns="91425" tIns="91425" rIns="91425" bIns="91425" anchor="b" anchorCtr="0">
            <a:normAutofit fontScale="55000" lnSpcReduction="20000"/>
          </a:bodyPr>
          <a:lstStyle/>
          <a:p>
            <a:pPr marL="0" marR="0" lvl="0" indent="0" algn="ctr" rtl="0">
              <a:lnSpc>
                <a:spcPct val="100000"/>
              </a:lnSpc>
              <a:spcBef>
                <a:spcPts val="0"/>
              </a:spcBef>
              <a:spcAft>
                <a:spcPts val="0"/>
              </a:spcAft>
              <a:buClr>
                <a:srgbClr val="000000"/>
              </a:buClr>
              <a:buSzPct val="100000"/>
              <a:buFont typeface="Arial"/>
              <a:buNone/>
            </a:pPr>
            <a:r>
              <a:rPr lang="fr-FR" sz="5200" b="0" i="0" u="none" strike="noStrike" cap="none" noProof="0" dirty="0">
                <a:solidFill>
                  <a:srgbClr val="F3F3F3"/>
                </a:solidFill>
                <a:latin typeface="Montserrat"/>
                <a:ea typeface="Montserrat"/>
                <a:cs typeface="Montserrat"/>
                <a:sym typeface="Montserrat"/>
              </a:rPr>
              <a:t>Optimisez la gestion des données d’une boutique avec Python</a:t>
            </a:r>
          </a:p>
        </p:txBody>
      </p:sp>
      <p:sp>
        <p:nvSpPr>
          <p:cNvPr id="56" name="Google Shape;56;p1"/>
          <p:cNvSpPr txBox="1"/>
          <p:nvPr/>
        </p:nvSpPr>
        <p:spPr>
          <a:xfrm>
            <a:off x="4968964" y="3199661"/>
            <a:ext cx="3807680" cy="534150"/>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000000"/>
              </a:buClr>
              <a:buSzPct val="100000"/>
              <a:buFont typeface="Arial"/>
              <a:buNone/>
            </a:pPr>
            <a:r>
              <a:rPr lang="fr-FR" sz="2000" b="0" i="0" u="none" strike="noStrike" cap="none" noProof="0" dirty="0">
                <a:solidFill>
                  <a:schemeClr val="lt1"/>
                </a:solidFill>
                <a:latin typeface="Montserrat"/>
                <a:ea typeface="Montserrat"/>
                <a:cs typeface="Montserrat"/>
                <a:sym typeface="Montserrat"/>
              </a:rPr>
              <a:t>Yann AMER MESSAOUD</a:t>
            </a:r>
            <a:endParaRPr lang="fr-FR" sz="2800" b="0" i="0" u="none" strike="noStrike" cap="none" noProof="0" dirty="0">
              <a:solidFill>
                <a:schemeClr val="lt1"/>
              </a:solidFill>
              <a:latin typeface="Montserrat"/>
              <a:ea typeface="Montserrat"/>
              <a:cs typeface="Montserrat"/>
              <a:sym typeface="Montserrat"/>
            </a:endParaRPr>
          </a:p>
        </p:txBody>
      </p:sp>
      <p:sp>
        <p:nvSpPr>
          <p:cNvPr id="57" name="Google Shape;57;p1"/>
          <p:cNvSpPr txBox="1"/>
          <p:nvPr/>
        </p:nvSpPr>
        <p:spPr>
          <a:xfrm>
            <a:off x="4968964" y="3587382"/>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FR" sz="2800" noProof="0" dirty="0">
                <a:solidFill>
                  <a:schemeClr val="lt1"/>
                </a:solidFill>
                <a:latin typeface="Montserrat"/>
                <a:ea typeface="Montserrat"/>
                <a:cs typeface="Montserrat"/>
                <a:sym typeface="Montserrat"/>
              </a:rPr>
              <a:t>Data </a:t>
            </a:r>
            <a:r>
              <a:rPr lang="fr-FR" sz="2800" noProof="0" dirty="0" err="1">
                <a:solidFill>
                  <a:schemeClr val="lt1"/>
                </a:solidFill>
                <a:latin typeface="Montserrat"/>
                <a:ea typeface="Montserrat"/>
                <a:cs typeface="Montserrat"/>
                <a:sym typeface="Montserrat"/>
              </a:rPr>
              <a:t>analyst</a:t>
            </a:r>
            <a:endParaRPr lang="fr-FR" sz="2800" b="0" i="0" u="none" strike="noStrike" cap="none" noProof="0" dirty="0">
              <a:solidFill>
                <a:schemeClr val="lt1"/>
              </a:solidFill>
              <a:latin typeface="Montserrat"/>
              <a:ea typeface="Montserrat"/>
              <a:cs typeface="Montserrat"/>
              <a:sym typeface="Montserrat"/>
            </a:endParaRPr>
          </a:p>
        </p:txBody>
      </p:sp>
      <p:sp>
        <p:nvSpPr>
          <p:cNvPr id="58" name="Google Shape;58;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FR" sz="2800" b="0" i="0" u="none" strike="noStrike" cap="none" noProof="0" dirty="0">
                <a:solidFill>
                  <a:schemeClr val="lt1"/>
                </a:solidFill>
                <a:latin typeface="Montserrat"/>
                <a:ea typeface="Montserrat"/>
                <a:cs typeface="Montserrat"/>
                <a:sym typeface="Montserrat"/>
              </a:rPr>
              <a:t>[</a:t>
            </a:r>
            <a:r>
              <a:rPr lang="fr-FR" sz="2000" b="0" i="0" u="none" strike="noStrike" cap="none" noProof="0" dirty="0">
                <a:solidFill>
                  <a:schemeClr val="lt1"/>
                </a:solidFill>
                <a:latin typeface="Montserrat"/>
                <a:ea typeface="Montserrat"/>
                <a:cs typeface="Montserrat"/>
                <a:sym typeface="Montserrat"/>
              </a:rPr>
              <a:t>27/09/2024</a:t>
            </a:r>
            <a:r>
              <a:rPr lang="fr-FR" sz="2800" b="0" i="0" u="none" strike="noStrike" cap="none" noProof="0" dirty="0">
                <a:solidFill>
                  <a:schemeClr val="lt1"/>
                </a:solidFill>
                <a:latin typeface="Montserrat"/>
                <a:ea typeface="Montserrat"/>
                <a:cs typeface="Montserrat"/>
                <a:sym typeface="Montserrat"/>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A60BBBF1-F855-2EC2-2B92-6A7152FCBB15}"/>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38886640-9C64-F76B-0B04-4603FB5BCE4E}"/>
              </a:ext>
            </a:extLst>
          </p:cNvPr>
          <p:cNvSpPr txBox="1">
            <a:spLocks noGrp="1"/>
          </p:cNvSpPr>
          <p:nvPr>
            <p:ph type="body" idx="1"/>
          </p:nvPr>
        </p:nvSpPr>
        <p:spPr>
          <a:xfrm>
            <a:off x="208056" y="1094610"/>
            <a:ext cx="8520600" cy="3711990"/>
          </a:xfrm>
          <a:prstGeom prst="rect">
            <a:avLst/>
          </a:prstGeom>
          <a:noFill/>
          <a:ln>
            <a:noFill/>
          </a:ln>
        </p:spPr>
        <p:txBody>
          <a:bodyPr spcFirstLastPara="1" wrap="square" lIns="91425" tIns="91425" rIns="91425" bIns="91425" anchor="t" anchorCtr="0">
            <a:normAutofit/>
          </a:bodyPr>
          <a:lstStyle/>
          <a:p>
            <a:pPr marL="114300" indent="0">
              <a:buClrTx/>
              <a:buNone/>
            </a:pPr>
            <a:r>
              <a:rPr lang="fr-FR" sz="1050" b="1" noProof="0" dirty="0">
                <a:solidFill>
                  <a:schemeClr val="tx1"/>
                </a:solidFill>
                <a:latin typeface="+mj-lt"/>
                <a:ea typeface="Montserrat"/>
                <a:cs typeface="Montserrat"/>
                <a:sym typeface="Montserrat"/>
              </a:rPr>
              <a:t>Caractéristiques des </a:t>
            </a:r>
            <a:r>
              <a:rPr lang="fr-FR" sz="1050" b="1" noProof="0" dirty="0" err="1">
                <a:solidFill>
                  <a:schemeClr val="tx1"/>
                </a:solidFill>
                <a:latin typeface="+mj-lt"/>
                <a:ea typeface="Montserrat"/>
                <a:cs typeface="Montserrat"/>
                <a:sym typeface="Montserrat"/>
              </a:rPr>
              <a:t>datasets</a:t>
            </a:r>
            <a:r>
              <a:rPr lang="fr-FR" sz="1050" b="1" noProof="0" dirty="0">
                <a:solidFill>
                  <a:schemeClr val="tx1"/>
                </a:solidFill>
                <a:latin typeface="+mj-lt"/>
                <a:ea typeface="Montserrat"/>
                <a:cs typeface="Montserrat"/>
                <a:sym typeface="Montserrat"/>
              </a:rPr>
              <a:t>: </a:t>
            </a:r>
            <a:r>
              <a:rPr lang="fr-FR" sz="1050" kern="100" noProof="0" dirty="0">
                <a:solidFill>
                  <a:schemeClr val="tx1"/>
                </a:solidFill>
                <a:effectLst/>
                <a:latin typeface="+mj-lt"/>
                <a:ea typeface="Calibri" panose="020F0502020204030204" pitchFamily="34" charset="0"/>
                <a:cs typeface="Times New Roman" panose="02020603050405020304" pitchFamily="18" charset="0"/>
              </a:rPr>
              <a:t>Cette section présente les jeux de données utilisés </a:t>
            </a:r>
            <a:endParaRPr lang="fr-FR" sz="1050" b="1" noProof="0" dirty="0">
              <a:solidFill>
                <a:schemeClr val="tx1"/>
              </a:solidFill>
              <a:latin typeface="+mj-lt"/>
              <a:ea typeface="Montserrat"/>
              <a:cs typeface="Montserrat"/>
              <a:sym typeface="Montserrat"/>
            </a:endParaRPr>
          </a:p>
          <a:p>
            <a:pPr marL="114300" indent="0">
              <a:buClrTx/>
              <a:buNone/>
            </a:pPr>
            <a:r>
              <a:rPr lang="fr-FR" sz="1050" b="1" noProof="0" dirty="0">
                <a:solidFill>
                  <a:schemeClr val="tx1"/>
                </a:solidFill>
                <a:latin typeface="+mj-lt"/>
                <a:ea typeface="Montserrat"/>
                <a:cs typeface="Montserrat"/>
                <a:sym typeface="Montserrat"/>
              </a:rPr>
              <a:t>Données ERP:</a:t>
            </a:r>
          </a:p>
          <a:p>
            <a:pPr marL="114300" indent="0">
              <a:lnSpc>
                <a:spcPct val="107000"/>
              </a:lnSpc>
              <a:spcAft>
                <a:spcPts val="800"/>
              </a:spcAft>
              <a:buNone/>
            </a:pPr>
            <a:endParaRPr lang="fr-FR" sz="18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4" name="Google Shape;64;p4">
            <a:extLst>
              <a:ext uri="{FF2B5EF4-FFF2-40B4-BE49-F238E27FC236}">
                <a16:creationId xmlns:a16="http://schemas.microsoft.com/office/drawing/2014/main" id="{FC061A06-A828-0BEA-9B73-BA77F0399914}"/>
              </a:ext>
            </a:extLst>
          </p:cNvPr>
          <p:cNvSpPr/>
          <p:nvPr/>
        </p:nvSpPr>
        <p:spPr>
          <a:xfrm>
            <a:off x="0" y="0"/>
            <a:ext cx="9144000" cy="1014517"/>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264213C9-B484-02D6-6490-FC905F771EA9}"/>
              </a:ext>
            </a:extLst>
          </p:cNvPr>
          <p:cNvSpPr txBox="1"/>
          <p:nvPr/>
        </p:nvSpPr>
        <p:spPr>
          <a:xfrm>
            <a:off x="842129" y="144432"/>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FR" sz="2500"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lang="fr-FR" sz="2500" b="0" i="0" u="none" strike="noStrike" cap="none" noProof="0"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7E6B688D-A1B0-75B2-7198-94735631938E}"/>
              </a:ext>
            </a:extLst>
          </p:cNvPr>
          <p:cNvSpPr/>
          <p:nvPr/>
        </p:nvSpPr>
        <p:spPr>
          <a:xfrm>
            <a:off x="938755" y="668123"/>
            <a:ext cx="5755721" cy="47865"/>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3E005297-F2AD-1B6F-8379-54BDBA93216D}"/>
              </a:ext>
            </a:extLst>
          </p:cNvPr>
          <p:cNvPicPr>
            <a:picLocks noChangeAspect="1"/>
          </p:cNvPicPr>
          <p:nvPr/>
        </p:nvPicPr>
        <p:blipFill>
          <a:blip r:embed="rId3"/>
          <a:srcRect t="1" r="2288" b="1688"/>
          <a:stretch/>
        </p:blipFill>
        <p:spPr>
          <a:xfrm>
            <a:off x="299178" y="1736692"/>
            <a:ext cx="2517646" cy="1146672"/>
          </a:xfrm>
          <a:prstGeom prst="rect">
            <a:avLst/>
          </a:prstGeom>
        </p:spPr>
      </p:pic>
      <p:pic>
        <p:nvPicPr>
          <p:cNvPr id="5" name="Image 4">
            <a:extLst>
              <a:ext uri="{FF2B5EF4-FFF2-40B4-BE49-F238E27FC236}">
                <a16:creationId xmlns:a16="http://schemas.microsoft.com/office/drawing/2014/main" id="{C1FF6876-143C-0C2B-1C66-C38EFA7ED0E6}"/>
              </a:ext>
            </a:extLst>
          </p:cNvPr>
          <p:cNvPicPr>
            <a:picLocks noChangeAspect="1"/>
          </p:cNvPicPr>
          <p:nvPr/>
        </p:nvPicPr>
        <p:blipFill>
          <a:blip r:embed="rId4"/>
          <a:stretch>
            <a:fillRect/>
          </a:stretch>
        </p:blipFill>
        <p:spPr>
          <a:xfrm>
            <a:off x="3960317" y="1464458"/>
            <a:ext cx="3492679" cy="2214584"/>
          </a:xfrm>
          <a:prstGeom prst="rect">
            <a:avLst/>
          </a:prstGeom>
        </p:spPr>
      </p:pic>
      <p:sp>
        <p:nvSpPr>
          <p:cNvPr id="6" name="ZoneTexte 5">
            <a:extLst>
              <a:ext uri="{FF2B5EF4-FFF2-40B4-BE49-F238E27FC236}">
                <a16:creationId xmlns:a16="http://schemas.microsoft.com/office/drawing/2014/main" id="{B709EF6D-DCBB-5D35-0D02-98B2F7129861}"/>
              </a:ext>
            </a:extLst>
          </p:cNvPr>
          <p:cNvSpPr txBox="1"/>
          <p:nvPr/>
        </p:nvSpPr>
        <p:spPr>
          <a:xfrm>
            <a:off x="208056" y="4158197"/>
            <a:ext cx="3211584" cy="738664"/>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noProof="0" dirty="0">
                <a:solidFill>
                  <a:schemeClr val="accent2"/>
                </a:solidFill>
              </a:rPr>
              <a:t>Pas de valeurs nulles</a:t>
            </a:r>
          </a:p>
          <a:p>
            <a:pPr marL="285750" indent="-285750">
              <a:buClr>
                <a:srgbClr val="C00000"/>
              </a:buClr>
              <a:buFont typeface="Wingdings" panose="05000000000000000000" pitchFamily="2" charset="2"/>
              <a:buChar char="Ø"/>
            </a:pPr>
            <a:r>
              <a:rPr lang="fr-FR" sz="1050" noProof="0" dirty="0">
                <a:solidFill>
                  <a:schemeClr val="accent2"/>
                </a:solidFill>
              </a:rPr>
              <a:t>Pas de lignes en doublon dans </a:t>
            </a:r>
            <a:r>
              <a:rPr lang="fr-FR" sz="1050" noProof="0" dirty="0" err="1">
                <a:solidFill>
                  <a:schemeClr val="accent2"/>
                </a:solidFill>
              </a:rPr>
              <a:t>product_id</a:t>
            </a:r>
            <a:endParaRPr lang="fr-FR" sz="1050" noProof="0" dirty="0">
              <a:solidFill>
                <a:schemeClr val="accent2"/>
              </a:solidFill>
            </a:endParaRPr>
          </a:p>
          <a:p>
            <a:pPr marL="285750" indent="-285750">
              <a:buClr>
                <a:srgbClr val="C00000"/>
              </a:buClr>
              <a:buFont typeface="Wingdings" panose="05000000000000000000" pitchFamily="2" charset="2"/>
              <a:buChar char="Ø"/>
            </a:pPr>
            <a:r>
              <a:rPr lang="fr-FR" sz="1050" dirty="0">
                <a:solidFill>
                  <a:schemeClr val="accent2"/>
                </a:solidFill>
              </a:rPr>
              <a:t>3 prix négatifs dans la variable </a:t>
            </a:r>
            <a:r>
              <a:rPr lang="fr-FR" sz="1050" dirty="0" err="1">
                <a:solidFill>
                  <a:schemeClr val="accent2"/>
                </a:solidFill>
              </a:rPr>
              <a:t>price</a:t>
            </a:r>
            <a:r>
              <a:rPr lang="fr-FR" sz="1050" dirty="0">
                <a:solidFill>
                  <a:schemeClr val="accent2"/>
                </a:solidFill>
                <a:highlight>
                  <a:srgbClr val="FFFF00"/>
                </a:highlight>
              </a:rPr>
              <a:t> (erreur 1)</a:t>
            </a:r>
          </a:p>
          <a:p>
            <a:pPr marL="285750" indent="-285750">
              <a:buClr>
                <a:srgbClr val="C00000"/>
              </a:buClr>
              <a:buFont typeface="Wingdings" panose="05000000000000000000" pitchFamily="2" charset="2"/>
              <a:buChar char="Ø"/>
            </a:pPr>
            <a:r>
              <a:rPr lang="fr-FR" sz="1050" noProof="0" dirty="0">
                <a:solidFill>
                  <a:schemeClr val="accent2"/>
                </a:solidFill>
              </a:rPr>
              <a:t>Suppression des 3 lignes</a:t>
            </a:r>
            <a:r>
              <a:rPr lang="fr-FR" sz="1050" dirty="0">
                <a:solidFill>
                  <a:schemeClr val="accent2"/>
                </a:solidFill>
              </a:rPr>
              <a:t>.</a:t>
            </a:r>
            <a:endParaRPr lang="fr-FR" noProof="0" dirty="0">
              <a:solidFill>
                <a:schemeClr val="accent2"/>
              </a:solidFill>
            </a:endParaRPr>
          </a:p>
        </p:txBody>
      </p:sp>
      <p:pic>
        <p:nvPicPr>
          <p:cNvPr id="4" name="Image 3">
            <a:extLst>
              <a:ext uri="{FF2B5EF4-FFF2-40B4-BE49-F238E27FC236}">
                <a16:creationId xmlns:a16="http://schemas.microsoft.com/office/drawing/2014/main" id="{B1E9D126-9A15-F331-DAF1-2FE4F798EA73}"/>
              </a:ext>
            </a:extLst>
          </p:cNvPr>
          <p:cNvPicPr>
            <a:picLocks noChangeAspect="1"/>
          </p:cNvPicPr>
          <p:nvPr/>
        </p:nvPicPr>
        <p:blipFill>
          <a:blip r:embed="rId5"/>
          <a:stretch>
            <a:fillRect/>
          </a:stretch>
        </p:blipFill>
        <p:spPr>
          <a:xfrm>
            <a:off x="271706" y="3074544"/>
            <a:ext cx="2838596" cy="901746"/>
          </a:xfrm>
          <a:prstGeom prst="rect">
            <a:avLst/>
          </a:prstGeom>
        </p:spPr>
      </p:pic>
      <p:sp>
        <p:nvSpPr>
          <p:cNvPr id="8" name="Rectangle 7">
            <a:extLst>
              <a:ext uri="{FF2B5EF4-FFF2-40B4-BE49-F238E27FC236}">
                <a16:creationId xmlns:a16="http://schemas.microsoft.com/office/drawing/2014/main" id="{C0DC8121-BF74-EAF2-13EE-629A94FA6E03}"/>
              </a:ext>
            </a:extLst>
          </p:cNvPr>
          <p:cNvSpPr/>
          <p:nvPr/>
        </p:nvSpPr>
        <p:spPr>
          <a:xfrm>
            <a:off x="1483692" y="3551053"/>
            <a:ext cx="265014" cy="457044"/>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a:p>
        </p:txBody>
      </p:sp>
      <p:sp>
        <p:nvSpPr>
          <p:cNvPr id="9" name="ZoneTexte 8">
            <a:extLst>
              <a:ext uri="{FF2B5EF4-FFF2-40B4-BE49-F238E27FC236}">
                <a16:creationId xmlns:a16="http://schemas.microsoft.com/office/drawing/2014/main" id="{CFE4AA10-D0E8-08E5-7CDD-4D278AFE87D0}"/>
              </a:ext>
            </a:extLst>
          </p:cNvPr>
          <p:cNvSpPr txBox="1"/>
          <p:nvPr/>
        </p:nvSpPr>
        <p:spPr>
          <a:xfrm>
            <a:off x="3816615" y="4000801"/>
            <a:ext cx="4626567" cy="1015663"/>
          </a:xfrm>
          <a:prstGeom prst="rect">
            <a:avLst/>
          </a:prstGeom>
          <a:noFill/>
        </p:spPr>
        <p:txBody>
          <a:bodyPr wrap="square" rtlCol="0">
            <a:spAutoFit/>
          </a:bodyPr>
          <a:lstStyle/>
          <a:p>
            <a:pPr>
              <a:buClr>
                <a:srgbClr val="C00000"/>
              </a:buClr>
            </a:pPr>
            <a:r>
              <a:rPr lang="fr-FR" sz="1000" noProof="0" dirty="0">
                <a:solidFill>
                  <a:schemeClr val="accent2"/>
                </a:solidFill>
                <a:latin typeface="+mj-lt"/>
              </a:rPr>
              <a:t>Suppression des prix négatifs :</a:t>
            </a:r>
          </a:p>
          <a:p>
            <a:pPr>
              <a:buClr>
                <a:srgbClr val="C00000"/>
              </a:buClr>
            </a:pPr>
            <a:r>
              <a:rPr lang="fr-FR" sz="1000" noProof="0" dirty="0">
                <a:solidFill>
                  <a:schemeClr val="accent2"/>
                </a:solidFill>
                <a:latin typeface="+mj-lt"/>
              </a:rPr>
              <a:t>Inconvénient : Perte de données essentielles qui peut biaiser l'analyse.</a:t>
            </a:r>
          </a:p>
          <a:p>
            <a:pPr>
              <a:buClr>
                <a:srgbClr val="C00000"/>
              </a:buClr>
            </a:pPr>
            <a:r>
              <a:rPr lang="fr-FR" sz="1000" noProof="0" dirty="0">
                <a:solidFill>
                  <a:schemeClr val="accent2"/>
                </a:solidFill>
                <a:latin typeface="+mj-lt"/>
              </a:rPr>
              <a:t>Remplacement par 0:</a:t>
            </a:r>
          </a:p>
          <a:p>
            <a:pPr>
              <a:buClr>
                <a:srgbClr val="C00000"/>
              </a:buClr>
            </a:pPr>
            <a:r>
              <a:rPr lang="fr-FR" sz="1000" noProof="0" dirty="0">
                <a:solidFill>
                  <a:schemeClr val="accent2"/>
                </a:solidFill>
                <a:latin typeface="+mj-lt"/>
              </a:rPr>
              <a:t>Risque de fausser l’analyse avec des valeurs irréalistes.</a:t>
            </a:r>
          </a:p>
          <a:p>
            <a:pPr>
              <a:buClr>
                <a:srgbClr val="C00000"/>
              </a:buClr>
            </a:pPr>
            <a:r>
              <a:rPr lang="fr-FR" sz="1000" noProof="0" dirty="0">
                <a:solidFill>
                  <a:schemeClr val="accent2"/>
                </a:solidFill>
                <a:latin typeface="+mj-lt"/>
              </a:rPr>
              <a:t>Solution recommandée:</a:t>
            </a:r>
          </a:p>
          <a:p>
            <a:pPr>
              <a:buClr>
                <a:srgbClr val="C00000"/>
              </a:buClr>
            </a:pPr>
            <a:r>
              <a:rPr lang="fr-FR" sz="1000" noProof="0" dirty="0">
                <a:solidFill>
                  <a:schemeClr val="accent2"/>
                </a:solidFill>
                <a:latin typeface="+mj-lt"/>
              </a:rPr>
              <a:t>Consulter les équipes métier pour obtenir et corriger les prix réels.</a:t>
            </a:r>
          </a:p>
        </p:txBody>
      </p:sp>
    </p:spTree>
    <p:extLst>
      <p:ext uri="{BB962C8B-B14F-4D97-AF65-F5344CB8AC3E}">
        <p14:creationId xmlns:p14="http://schemas.microsoft.com/office/powerpoint/2010/main" val="304716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C288D26-22AB-F7EC-2928-B9CBCDD2C545}"/>
            </a:ext>
          </a:extLst>
        </p:cNvPr>
        <p:cNvGrpSpPr/>
        <p:nvPr/>
      </p:nvGrpSpPr>
      <p:grpSpPr>
        <a:xfrm>
          <a:off x="0" y="0"/>
          <a:ext cx="0" cy="0"/>
          <a:chOff x="0" y="0"/>
          <a:chExt cx="0" cy="0"/>
        </a:xfrm>
      </p:grpSpPr>
      <p:sp>
        <p:nvSpPr>
          <p:cNvPr id="64" name="Google Shape;64;p4">
            <a:extLst>
              <a:ext uri="{FF2B5EF4-FFF2-40B4-BE49-F238E27FC236}">
                <a16:creationId xmlns:a16="http://schemas.microsoft.com/office/drawing/2014/main" id="{98F07CBC-8BF7-9BC5-8CE8-DA6CED03DC6C}"/>
              </a:ext>
            </a:extLst>
          </p:cNvPr>
          <p:cNvSpPr/>
          <p:nvPr/>
        </p:nvSpPr>
        <p:spPr>
          <a:xfrm>
            <a:off x="0" y="0"/>
            <a:ext cx="9144000" cy="1014517"/>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59ECA4C1-0926-975F-10D7-5EBB8336D82F}"/>
              </a:ext>
            </a:extLst>
          </p:cNvPr>
          <p:cNvSpPr txBox="1"/>
          <p:nvPr/>
        </p:nvSpPr>
        <p:spPr>
          <a:xfrm>
            <a:off x="842129" y="144432"/>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FR" sz="2500"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lang="fr-FR" sz="2500" b="0" i="0" u="none" strike="noStrike" cap="none" noProof="0"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C4B148EF-9334-D45F-434B-B7377071B476}"/>
              </a:ext>
            </a:extLst>
          </p:cNvPr>
          <p:cNvSpPr/>
          <p:nvPr/>
        </p:nvSpPr>
        <p:spPr>
          <a:xfrm>
            <a:off x="938755" y="668123"/>
            <a:ext cx="5755721" cy="47865"/>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6" name="ZoneTexte 5">
            <a:extLst>
              <a:ext uri="{FF2B5EF4-FFF2-40B4-BE49-F238E27FC236}">
                <a16:creationId xmlns:a16="http://schemas.microsoft.com/office/drawing/2014/main" id="{8C746B8C-2AD8-C055-9A9E-93E6F97BB93C}"/>
              </a:ext>
            </a:extLst>
          </p:cNvPr>
          <p:cNvSpPr txBox="1"/>
          <p:nvPr/>
        </p:nvSpPr>
        <p:spPr>
          <a:xfrm>
            <a:off x="107939" y="1243948"/>
            <a:ext cx="4749384" cy="5555367"/>
          </a:xfrm>
          <a:prstGeom prst="rect">
            <a:avLst/>
          </a:prstGeom>
          <a:noFill/>
        </p:spPr>
        <p:txBody>
          <a:bodyPr wrap="square" rtlCol="0">
            <a:spAutoFit/>
          </a:bodyPr>
          <a:lstStyle/>
          <a:p>
            <a:pPr>
              <a:buClr>
                <a:srgbClr val="C00000"/>
              </a:buClr>
            </a:pPr>
            <a:r>
              <a:rPr lang="fr-FR" sz="1050" b="1" noProof="0" dirty="0">
                <a:solidFill>
                  <a:schemeClr val="accent2"/>
                </a:solidFill>
              </a:rPr>
              <a:t>Les stocks:</a:t>
            </a:r>
          </a:p>
          <a:p>
            <a:pPr marL="285750" indent="-285750">
              <a:buClr>
                <a:srgbClr val="C00000"/>
              </a:buClr>
              <a:buFont typeface="Wingdings" panose="05000000000000000000" pitchFamily="2" charset="2"/>
              <a:buChar char="Ø"/>
            </a:pPr>
            <a:r>
              <a:rPr lang="fr-FR" sz="1050" noProof="0" dirty="0">
                <a:solidFill>
                  <a:schemeClr val="accent2"/>
                </a:solidFill>
              </a:rPr>
              <a:t>incohérence entre le statut et la quantité en stock pour les produits 4039 et 4885 (</a:t>
            </a:r>
            <a:r>
              <a:rPr lang="fr-FR" sz="1050" noProof="0" dirty="0">
                <a:solidFill>
                  <a:schemeClr val="accent2"/>
                </a:solidFill>
                <a:highlight>
                  <a:srgbClr val="FFFF00"/>
                </a:highlight>
              </a:rPr>
              <a:t>erreur 2</a:t>
            </a:r>
            <a:r>
              <a:rPr lang="fr-FR" sz="1050" noProof="0" dirty="0">
                <a:solidFill>
                  <a:schemeClr val="accent2"/>
                </a:solidFill>
              </a:rPr>
              <a:t>).</a:t>
            </a:r>
            <a:endParaRPr lang="fr-FR" noProof="0" dirty="0">
              <a:solidFill>
                <a:schemeClr val="accent2"/>
              </a:solidFill>
            </a:endParaRPr>
          </a:p>
          <a:p>
            <a:pPr marL="285750" indent="-285750">
              <a:buClr>
                <a:srgbClr val="C00000"/>
              </a:buClr>
              <a:buFont typeface="Wingdings" panose="05000000000000000000" pitchFamily="2" charset="2"/>
              <a:buChar char="Ø"/>
            </a:pPr>
            <a:r>
              <a:rPr lang="fr-FR" sz="1050" noProof="0" dirty="0">
                <a:solidFill>
                  <a:schemeClr val="accent2"/>
                </a:solidFill>
              </a:rPr>
              <a:t>Correction des données incohérentes</a:t>
            </a:r>
          </a:p>
          <a:p>
            <a:pPr marL="285750" indent="-285750">
              <a:buClr>
                <a:srgbClr val="C00000"/>
              </a:buClr>
              <a:buFont typeface="Wingdings" panose="05000000000000000000" pitchFamily="2" charset="2"/>
              <a:buChar char="Ø"/>
            </a:pPr>
            <a:endParaRPr lang="fr-FR" sz="1050" dirty="0">
              <a:solidFill>
                <a:schemeClr val="accent2"/>
              </a:solidFill>
            </a:endParaRPr>
          </a:p>
          <a:p>
            <a:pPr>
              <a:buClr>
                <a:srgbClr val="C00000"/>
              </a:buClr>
            </a:pPr>
            <a:r>
              <a:rPr lang="fr-FR" sz="1050" b="1" noProof="0" dirty="0">
                <a:solidFill>
                  <a:schemeClr val="accent2"/>
                </a:solidFill>
              </a:rPr>
              <a:t>Analyse de la variable stock:</a:t>
            </a:r>
          </a:p>
          <a:p>
            <a:pPr>
              <a:buClr>
                <a:srgbClr val="C00000"/>
              </a:buClr>
            </a:pPr>
            <a:endParaRPr lang="fr-FR" sz="1050" b="1" dirty="0">
              <a:solidFill>
                <a:schemeClr val="accent2"/>
              </a:solidFill>
            </a:endParaRPr>
          </a:p>
          <a:p>
            <a:pPr>
              <a:buClr>
                <a:srgbClr val="C00000"/>
              </a:buClr>
            </a:pPr>
            <a:endParaRPr lang="fr-FR" sz="1050" b="1" noProof="0" dirty="0">
              <a:solidFill>
                <a:schemeClr val="accent2"/>
              </a:solidFill>
            </a:endParaRPr>
          </a:p>
          <a:p>
            <a:pPr>
              <a:buClr>
                <a:srgbClr val="C00000"/>
              </a:buClr>
            </a:pPr>
            <a:endParaRPr lang="fr-FR" sz="1050" b="1" noProof="0" dirty="0">
              <a:solidFill>
                <a:schemeClr val="accent2"/>
              </a:solidFill>
            </a:endParaRPr>
          </a:p>
          <a:p>
            <a:pPr>
              <a:buClr>
                <a:srgbClr val="C00000"/>
              </a:buClr>
            </a:pPr>
            <a:endParaRPr lang="fr-FR" sz="1050" b="1" noProof="0" dirty="0">
              <a:solidFill>
                <a:schemeClr val="accent2"/>
              </a:solidFill>
            </a:endParaRPr>
          </a:p>
          <a:p>
            <a:pPr marL="171450" indent="-171450">
              <a:buClr>
                <a:srgbClr val="C00000"/>
              </a:buClr>
              <a:buFont typeface="Wingdings" panose="05000000000000000000" pitchFamily="2" charset="2"/>
              <a:buChar char="Ø"/>
            </a:pPr>
            <a:r>
              <a:rPr lang="fr-FR" sz="1050" noProof="0" dirty="0">
                <a:solidFill>
                  <a:schemeClr val="accent2"/>
                </a:solidFill>
              </a:rPr>
              <a:t>Deux quantités de stocks négatives (</a:t>
            </a:r>
            <a:r>
              <a:rPr lang="fr-FR" sz="1050" noProof="0" dirty="0">
                <a:solidFill>
                  <a:schemeClr val="accent2"/>
                </a:solidFill>
                <a:highlight>
                  <a:srgbClr val="FFFF00"/>
                </a:highlight>
              </a:rPr>
              <a:t>erreur 3</a:t>
            </a:r>
            <a:r>
              <a:rPr lang="fr-FR" sz="1050" noProof="0" dirty="0">
                <a:solidFill>
                  <a:schemeClr val="accent2"/>
                </a:solidFill>
              </a:rPr>
              <a:t>)</a:t>
            </a:r>
          </a:p>
          <a:p>
            <a:pPr marL="171450" indent="-171450">
              <a:buClr>
                <a:srgbClr val="C00000"/>
              </a:buClr>
              <a:buFont typeface="Wingdings" panose="05000000000000000000" pitchFamily="2" charset="2"/>
              <a:buChar char="Ø"/>
            </a:pPr>
            <a:r>
              <a:rPr lang="fr-FR" sz="1050" dirty="0">
                <a:solidFill>
                  <a:schemeClr val="accent2"/>
                </a:solidFill>
              </a:rPr>
              <a:t>Suppression des deux lignes avec des stocks négatifs.</a:t>
            </a:r>
          </a:p>
          <a:p>
            <a:pPr>
              <a:buClr>
                <a:srgbClr val="C00000"/>
              </a:buClr>
            </a:pPr>
            <a:r>
              <a:rPr lang="fr-FR" sz="1050" b="1" dirty="0">
                <a:solidFill>
                  <a:schemeClr val="accent2"/>
                </a:solidFill>
              </a:rPr>
              <a:t>Les stocks négatifs peuvent être dus à plusieurs raisons</a:t>
            </a:r>
            <a:r>
              <a:rPr lang="fr-FR" sz="1050" dirty="0">
                <a:solidFill>
                  <a:schemeClr val="accent2"/>
                </a:solidFill>
              </a:rPr>
              <a:t>:</a:t>
            </a:r>
          </a:p>
          <a:p>
            <a:pPr>
              <a:buClr>
                <a:srgbClr val="C00000"/>
              </a:buClr>
            </a:pPr>
            <a:endParaRPr lang="fr-FR" sz="1050" noProof="0" dirty="0">
              <a:solidFill>
                <a:schemeClr val="accent2"/>
              </a:solidFill>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Erreurs de saisie</a:t>
            </a:r>
            <a:endParaRPr lang="en-GB" sz="1000" kern="100" dirty="0">
              <a:effectLst/>
              <a:latin typeface="+mn-lt"/>
              <a:ea typeface="Calibri" panose="020F0502020204030204" pitchFamily="34" charset="0"/>
              <a:cs typeface="Times New Roman" panose="02020603050405020304" pitchFamily="18" charset="0"/>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Problèmes de synchronisation des systèmes                                           </a:t>
            </a:r>
            <a:endParaRPr lang="en-GB" sz="1000" kern="100" dirty="0">
              <a:effectLst/>
              <a:latin typeface="+mn-lt"/>
              <a:ea typeface="Calibri" panose="020F0502020204030204" pitchFamily="34" charset="0"/>
              <a:cs typeface="Times New Roman" panose="02020603050405020304" pitchFamily="18" charset="0"/>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Retours ou annulations mal enregistrés</a:t>
            </a:r>
            <a:endParaRPr lang="en-GB" sz="1000" kern="100" dirty="0">
              <a:effectLst/>
              <a:latin typeface="+mn-lt"/>
              <a:ea typeface="Calibri" panose="020F0502020204030204" pitchFamily="34" charset="0"/>
              <a:cs typeface="Times New Roman" panose="02020603050405020304" pitchFamily="18" charset="0"/>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Ventes avant réception du stock</a:t>
            </a:r>
            <a:endParaRPr lang="en-GB" sz="1000" kern="100" dirty="0">
              <a:effectLst/>
              <a:latin typeface="+mn-lt"/>
              <a:ea typeface="Calibri" panose="020F0502020204030204" pitchFamily="34" charset="0"/>
              <a:cs typeface="Times New Roman" panose="02020603050405020304" pitchFamily="18" charset="0"/>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Problèmes de gestion des invendus ou des pertes</a:t>
            </a:r>
            <a:endParaRPr lang="en-GB" sz="1000" kern="100" dirty="0">
              <a:effectLst/>
              <a:latin typeface="+mn-lt"/>
              <a:ea typeface="Calibri" panose="020F0502020204030204" pitchFamily="34" charset="0"/>
              <a:cs typeface="Times New Roman" panose="02020603050405020304" pitchFamily="18" charset="0"/>
            </a:endParaRPr>
          </a:p>
          <a:p>
            <a:pPr>
              <a:spcAft>
                <a:spcPts val="800"/>
              </a:spcAft>
            </a:pPr>
            <a:r>
              <a:rPr lang="fr-FR" sz="1050" kern="0" dirty="0">
                <a:effectLst/>
                <a:latin typeface="+mn-lt"/>
                <a:ea typeface="Times New Roman" panose="02020603050405020304" pitchFamily="18" charset="0"/>
                <a:cs typeface="Times New Roman" panose="02020603050405020304" pitchFamily="18" charset="0"/>
              </a:rPr>
              <a:t>-  Erreurs dans les algorithmes de gestion de stock</a:t>
            </a:r>
            <a:endParaRPr lang="en-GB" sz="1000" kern="100" dirty="0">
              <a:effectLst/>
              <a:latin typeface="+mn-lt"/>
              <a:ea typeface="Calibri" panose="020F0502020204030204" pitchFamily="34" charset="0"/>
              <a:cs typeface="Times New Roman" panose="02020603050405020304" pitchFamily="18" charset="0"/>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dirty="0">
              <a:solidFill>
                <a:schemeClr val="accent2"/>
              </a:solidFill>
            </a:endParaRPr>
          </a:p>
          <a:p>
            <a:pPr>
              <a:buClr>
                <a:srgbClr val="C00000"/>
              </a:buClr>
            </a:pPr>
            <a:endParaRPr lang="fr-FR" sz="1050" b="1" noProof="0" dirty="0">
              <a:solidFill>
                <a:schemeClr val="accent2"/>
              </a:solidFill>
            </a:endParaRPr>
          </a:p>
          <a:p>
            <a:pPr>
              <a:buClr>
                <a:srgbClr val="C00000"/>
              </a:buClr>
            </a:pPr>
            <a:endParaRPr lang="fr-FR" sz="1050" noProof="0" dirty="0">
              <a:solidFill>
                <a:schemeClr val="accent2"/>
              </a:solidFill>
            </a:endParaRPr>
          </a:p>
        </p:txBody>
      </p:sp>
      <p:pic>
        <p:nvPicPr>
          <p:cNvPr id="4" name="Image 3">
            <a:extLst>
              <a:ext uri="{FF2B5EF4-FFF2-40B4-BE49-F238E27FC236}">
                <a16:creationId xmlns:a16="http://schemas.microsoft.com/office/drawing/2014/main" id="{1CA8D4B4-E577-7502-40D7-A94D0EECD368}"/>
              </a:ext>
            </a:extLst>
          </p:cNvPr>
          <p:cNvPicPr>
            <a:picLocks noChangeAspect="1"/>
          </p:cNvPicPr>
          <p:nvPr/>
        </p:nvPicPr>
        <p:blipFill>
          <a:blip r:embed="rId3"/>
          <a:stretch>
            <a:fillRect/>
          </a:stretch>
        </p:blipFill>
        <p:spPr>
          <a:xfrm>
            <a:off x="5327361" y="1158949"/>
            <a:ext cx="3070248" cy="535004"/>
          </a:xfrm>
          <a:prstGeom prst="rect">
            <a:avLst/>
          </a:prstGeom>
        </p:spPr>
      </p:pic>
      <p:pic>
        <p:nvPicPr>
          <p:cNvPr id="9" name="Image 8">
            <a:extLst>
              <a:ext uri="{FF2B5EF4-FFF2-40B4-BE49-F238E27FC236}">
                <a16:creationId xmlns:a16="http://schemas.microsoft.com/office/drawing/2014/main" id="{E8CD26E7-3D10-2403-C9CF-045CFAFE5086}"/>
              </a:ext>
            </a:extLst>
          </p:cNvPr>
          <p:cNvPicPr>
            <a:picLocks noChangeAspect="1"/>
          </p:cNvPicPr>
          <p:nvPr/>
        </p:nvPicPr>
        <p:blipFill>
          <a:blip r:embed="rId4"/>
          <a:stretch>
            <a:fillRect/>
          </a:stretch>
        </p:blipFill>
        <p:spPr>
          <a:xfrm>
            <a:off x="5327361" y="2148026"/>
            <a:ext cx="3070248" cy="660115"/>
          </a:xfrm>
          <a:prstGeom prst="rect">
            <a:avLst/>
          </a:prstGeom>
        </p:spPr>
      </p:pic>
      <p:pic>
        <p:nvPicPr>
          <p:cNvPr id="11" name="Image 10">
            <a:extLst>
              <a:ext uri="{FF2B5EF4-FFF2-40B4-BE49-F238E27FC236}">
                <a16:creationId xmlns:a16="http://schemas.microsoft.com/office/drawing/2014/main" id="{290AFF0A-BA7E-2D2E-9F2C-D90CC15FA720}"/>
              </a:ext>
            </a:extLst>
          </p:cNvPr>
          <p:cNvPicPr>
            <a:picLocks noChangeAspect="1"/>
          </p:cNvPicPr>
          <p:nvPr/>
        </p:nvPicPr>
        <p:blipFill>
          <a:blip r:embed="rId5"/>
          <a:stretch>
            <a:fillRect/>
          </a:stretch>
        </p:blipFill>
        <p:spPr>
          <a:xfrm>
            <a:off x="180878" y="2315395"/>
            <a:ext cx="3522271" cy="512709"/>
          </a:xfrm>
          <a:prstGeom prst="rect">
            <a:avLst/>
          </a:prstGeom>
        </p:spPr>
      </p:pic>
      <p:sp>
        <p:nvSpPr>
          <p:cNvPr id="12" name="ZoneTexte 11">
            <a:extLst>
              <a:ext uri="{FF2B5EF4-FFF2-40B4-BE49-F238E27FC236}">
                <a16:creationId xmlns:a16="http://schemas.microsoft.com/office/drawing/2014/main" id="{41948D21-5972-AB1F-BA68-1EE3A97EF724}"/>
              </a:ext>
            </a:extLst>
          </p:cNvPr>
          <p:cNvSpPr txBox="1"/>
          <p:nvPr/>
        </p:nvSpPr>
        <p:spPr>
          <a:xfrm>
            <a:off x="4331720" y="3125991"/>
            <a:ext cx="4812280" cy="1873077"/>
          </a:xfrm>
          <a:prstGeom prst="rect">
            <a:avLst/>
          </a:prstGeom>
          <a:noFill/>
        </p:spPr>
        <p:txBody>
          <a:bodyPr wrap="square" rtlCol="0">
            <a:spAutoFit/>
          </a:bodyPr>
          <a:lstStyle/>
          <a:p>
            <a:pPr>
              <a:lnSpc>
                <a:spcPct val="107000"/>
              </a:lnSpc>
              <a:spcAft>
                <a:spcPts val="800"/>
              </a:spcAft>
            </a:pPr>
            <a:r>
              <a:rPr lang="fr-FR" sz="1050" b="1" kern="0" dirty="0">
                <a:effectLst/>
                <a:latin typeface="+mn-lt"/>
                <a:ea typeface="Times New Roman" panose="02020603050405020304" pitchFamily="18" charset="0"/>
                <a:cs typeface="Times New Roman" panose="02020603050405020304" pitchFamily="18" charset="0"/>
              </a:rPr>
              <a:t>Corrections possibles</a:t>
            </a:r>
            <a:r>
              <a:rPr lang="fr-FR" sz="1050" kern="0" dirty="0">
                <a:effectLst/>
                <a:latin typeface="+mn-lt"/>
                <a:ea typeface="Times New Roman" panose="02020603050405020304" pitchFamily="18" charset="0"/>
                <a:cs typeface="Times New Roman" panose="02020603050405020304" pitchFamily="18" charset="0"/>
              </a:rPr>
              <a:t>:</a:t>
            </a:r>
          </a:p>
          <a:p>
            <a:pPr>
              <a:lnSpc>
                <a:spcPct val="107000"/>
              </a:lnSpc>
              <a:spcAft>
                <a:spcPts val="800"/>
              </a:spcAft>
            </a:pPr>
            <a:r>
              <a:rPr lang="fr-FR" sz="1050" kern="0" dirty="0">
                <a:effectLst/>
                <a:latin typeface="+mn-lt"/>
                <a:ea typeface="Times New Roman" panose="02020603050405020304" pitchFamily="18" charset="0"/>
                <a:cs typeface="Times New Roman" panose="02020603050405020304" pitchFamily="18" charset="0"/>
              </a:rPr>
              <a:t>- </a:t>
            </a:r>
            <a:r>
              <a:rPr lang="fr-FR" sz="1050" b="1" kern="0" dirty="0">
                <a:effectLst/>
                <a:latin typeface="+mn-lt"/>
                <a:ea typeface="Times New Roman" panose="02020603050405020304" pitchFamily="18" charset="0"/>
                <a:cs typeface="Times New Roman" panose="02020603050405020304" pitchFamily="18" charset="0"/>
              </a:rPr>
              <a:t>Remplacer par zéro </a:t>
            </a:r>
            <a:r>
              <a:rPr lang="fr-FR" sz="1050" kern="0" dirty="0">
                <a:effectLst/>
                <a:latin typeface="+mn-lt"/>
                <a:ea typeface="Times New Roman" panose="02020603050405020304" pitchFamily="18" charset="0"/>
                <a:cs typeface="Times New Roman" panose="02020603050405020304" pitchFamily="18" charset="0"/>
              </a:rPr>
              <a:t>: pour éviter les stocks invraisemblables.</a:t>
            </a:r>
            <a:endParaRPr lang="en-GB" sz="1050" kern="100" dirty="0">
              <a:effectLst/>
              <a:latin typeface="+mn-lt"/>
              <a:ea typeface="Calibri" panose="020F0502020204030204" pitchFamily="34" charset="0"/>
              <a:cs typeface="Times New Roman" panose="02020603050405020304" pitchFamily="18" charset="0"/>
            </a:endParaRPr>
          </a:p>
          <a:p>
            <a:pPr>
              <a:lnSpc>
                <a:spcPct val="107000"/>
              </a:lnSpc>
              <a:spcAft>
                <a:spcPts val="800"/>
              </a:spcAft>
            </a:pPr>
            <a:r>
              <a:rPr lang="fr-FR" sz="1050" kern="0" dirty="0">
                <a:effectLst/>
                <a:latin typeface="+mn-lt"/>
                <a:ea typeface="Times New Roman" panose="02020603050405020304" pitchFamily="18" charset="0"/>
                <a:cs typeface="Times New Roman" panose="02020603050405020304" pitchFamily="18" charset="0"/>
              </a:rPr>
              <a:t>- </a:t>
            </a:r>
            <a:r>
              <a:rPr lang="fr-FR" sz="1050" b="1" kern="0" dirty="0">
                <a:effectLst/>
                <a:latin typeface="+mn-lt"/>
                <a:ea typeface="Times New Roman" panose="02020603050405020304" pitchFamily="18" charset="0"/>
                <a:cs typeface="Times New Roman" panose="02020603050405020304" pitchFamily="18" charset="0"/>
              </a:rPr>
              <a:t>Supprimer les lignes </a:t>
            </a:r>
            <a:r>
              <a:rPr lang="fr-FR" sz="1050" kern="0" dirty="0">
                <a:effectLst/>
                <a:latin typeface="+mn-lt"/>
                <a:ea typeface="Times New Roman" panose="02020603050405020304" pitchFamily="18" charset="0"/>
                <a:cs typeface="Times New Roman" panose="02020603050405020304" pitchFamily="18" charset="0"/>
              </a:rPr>
              <a:t>: Si les anomalies ne représentent qu’une petite proportion, éliminer ces enregistrements.</a:t>
            </a:r>
            <a:endParaRPr lang="en-GB" sz="1050" kern="100" dirty="0">
              <a:effectLst/>
              <a:latin typeface="+mn-lt"/>
              <a:ea typeface="Calibri" panose="020F0502020204030204" pitchFamily="34" charset="0"/>
              <a:cs typeface="Times New Roman" panose="02020603050405020304" pitchFamily="18" charset="0"/>
            </a:endParaRPr>
          </a:p>
          <a:p>
            <a:pPr>
              <a:lnSpc>
                <a:spcPct val="107000"/>
              </a:lnSpc>
              <a:spcAft>
                <a:spcPts val="800"/>
              </a:spcAft>
            </a:pPr>
            <a:r>
              <a:rPr lang="fr-FR" sz="1050" kern="0" dirty="0">
                <a:effectLst/>
                <a:latin typeface="+mn-lt"/>
                <a:ea typeface="Times New Roman" panose="02020603050405020304" pitchFamily="18" charset="0"/>
                <a:cs typeface="Times New Roman" panose="02020603050405020304" pitchFamily="18" charset="0"/>
              </a:rPr>
              <a:t>- </a:t>
            </a:r>
            <a:r>
              <a:rPr lang="fr-FR" sz="1050" b="1" kern="0" dirty="0">
                <a:effectLst/>
                <a:latin typeface="+mn-lt"/>
                <a:ea typeface="Times New Roman" panose="02020603050405020304" pitchFamily="18" charset="0"/>
                <a:cs typeface="Times New Roman" panose="02020603050405020304" pitchFamily="18" charset="0"/>
              </a:rPr>
              <a:t>Imputation par médiane/moyenne </a:t>
            </a:r>
            <a:r>
              <a:rPr lang="fr-FR" sz="1050" kern="0" dirty="0">
                <a:effectLst/>
                <a:latin typeface="+mn-lt"/>
                <a:ea typeface="Times New Roman" panose="02020603050405020304" pitchFamily="18" charset="0"/>
                <a:cs typeface="Times New Roman" panose="02020603050405020304" pitchFamily="18" charset="0"/>
              </a:rPr>
              <a:t>: Estimer des valeurs plausibles basées sur d'autres produits similaires.</a:t>
            </a:r>
            <a:endParaRPr lang="en-GB" sz="1050" kern="100" dirty="0">
              <a:effectLst/>
              <a:latin typeface="+mn-lt"/>
              <a:ea typeface="Calibri" panose="020F0502020204030204" pitchFamily="34" charset="0"/>
              <a:cs typeface="Times New Roman" panose="02020603050405020304" pitchFamily="18" charset="0"/>
            </a:endParaRPr>
          </a:p>
          <a:p>
            <a:pPr>
              <a:lnSpc>
                <a:spcPct val="107000"/>
              </a:lnSpc>
              <a:spcAft>
                <a:spcPts val="800"/>
              </a:spcAft>
            </a:pPr>
            <a:r>
              <a:rPr lang="fr-FR" sz="1050" kern="0" dirty="0">
                <a:effectLst/>
                <a:latin typeface="+mn-lt"/>
                <a:ea typeface="Times New Roman" panose="02020603050405020304" pitchFamily="18" charset="0"/>
                <a:cs typeface="Times New Roman" panose="02020603050405020304" pitchFamily="18" charset="0"/>
              </a:rPr>
              <a:t>- </a:t>
            </a:r>
            <a:r>
              <a:rPr lang="fr-FR" sz="1050" b="1" kern="0" dirty="0">
                <a:effectLst/>
                <a:latin typeface="+mn-lt"/>
                <a:ea typeface="Times New Roman" panose="02020603050405020304" pitchFamily="18" charset="0"/>
                <a:cs typeface="Times New Roman" panose="02020603050405020304" pitchFamily="18" charset="0"/>
              </a:rPr>
              <a:t>Remplacer par les bonnes valeurs </a:t>
            </a:r>
            <a:r>
              <a:rPr lang="fr-FR" sz="1050" kern="0" dirty="0">
                <a:effectLst/>
                <a:latin typeface="+mn-lt"/>
                <a:ea typeface="Times New Roman" panose="02020603050405020304" pitchFamily="18" charset="0"/>
                <a:cs typeface="Times New Roman" panose="02020603050405020304" pitchFamily="18" charset="0"/>
              </a:rPr>
              <a:t>: Si le métier peut fournir des valeurs fiables,</a:t>
            </a:r>
            <a:endParaRPr lang="en-GB" sz="1050" kern="10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6331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2A1D01BC-AD5C-B86D-A32A-9389E81AB630}"/>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0DBDC3C2-812A-79A1-5C5E-061AE24172BA}"/>
              </a:ext>
            </a:extLst>
          </p:cNvPr>
          <p:cNvSpPr txBox="1">
            <a:spLocks noGrp="1"/>
          </p:cNvSpPr>
          <p:nvPr>
            <p:ph type="body" idx="1"/>
          </p:nvPr>
        </p:nvSpPr>
        <p:spPr>
          <a:xfrm>
            <a:off x="208056" y="1094610"/>
            <a:ext cx="8520600" cy="3711990"/>
          </a:xfrm>
          <a:prstGeom prst="rect">
            <a:avLst/>
          </a:prstGeom>
          <a:noFill/>
          <a:ln>
            <a:noFill/>
          </a:ln>
        </p:spPr>
        <p:txBody>
          <a:bodyPr spcFirstLastPara="1" wrap="square" lIns="91425" tIns="91425" rIns="91425" bIns="91425" anchor="t" anchorCtr="0">
            <a:normAutofit/>
          </a:bodyPr>
          <a:lstStyle/>
          <a:p>
            <a:pPr marL="114300" indent="0">
              <a:buClrTx/>
              <a:buNone/>
            </a:pPr>
            <a:r>
              <a:rPr lang="fr-FR" sz="1600" b="1" noProof="0" dirty="0">
                <a:solidFill>
                  <a:schemeClr val="tx1"/>
                </a:solidFill>
                <a:latin typeface="+mj-lt"/>
                <a:ea typeface="Montserrat"/>
                <a:cs typeface="Montserrat"/>
                <a:sym typeface="Montserrat"/>
              </a:rPr>
              <a:t>Analyse exploratoire du fichier</a:t>
            </a:r>
            <a:r>
              <a:rPr lang="fr-FR" sz="1600" b="1" dirty="0">
                <a:solidFill>
                  <a:schemeClr val="tx1"/>
                </a:solidFill>
                <a:latin typeface="+mj-lt"/>
                <a:ea typeface="Montserrat"/>
                <a:cs typeface="Montserrat"/>
                <a:sym typeface="Montserrat"/>
              </a:rPr>
              <a:t> web</a:t>
            </a:r>
            <a:r>
              <a:rPr lang="fr-FR" sz="1600" b="1" noProof="0" dirty="0">
                <a:solidFill>
                  <a:schemeClr val="tx1"/>
                </a:solidFill>
                <a:latin typeface="+mj-lt"/>
                <a:ea typeface="Montserrat"/>
                <a:cs typeface="Montserrat"/>
                <a:sym typeface="Montserrat"/>
              </a:rPr>
              <a:t>:</a:t>
            </a:r>
          </a:p>
          <a:p>
            <a:pPr marL="114300" indent="0">
              <a:buClrTx/>
              <a:buNone/>
            </a:pPr>
            <a:endParaRPr lang="fr-FR" sz="1600" b="1" noProof="0" dirty="0">
              <a:solidFill>
                <a:schemeClr val="tx1"/>
              </a:solidFill>
              <a:latin typeface="+mj-l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lnSpc>
                <a:spcPct val="107000"/>
              </a:lnSpc>
              <a:spcAft>
                <a:spcPts val="800"/>
              </a:spcAft>
              <a:buNone/>
            </a:pPr>
            <a:endParaRPr lang="fr-FR" sz="18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4" name="Google Shape;64;p4">
            <a:extLst>
              <a:ext uri="{FF2B5EF4-FFF2-40B4-BE49-F238E27FC236}">
                <a16:creationId xmlns:a16="http://schemas.microsoft.com/office/drawing/2014/main" id="{8031719D-768F-A057-4C32-9198D0B11DEC}"/>
              </a:ext>
            </a:extLst>
          </p:cNvPr>
          <p:cNvSpPr/>
          <p:nvPr/>
        </p:nvSpPr>
        <p:spPr>
          <a:xfrm>
            <a:off x="0" y="0"/>
            <a:ext cx="9144000" cy="1014517"/>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BE995FDD-F01E-4E48-71B5-C882B68D6E61}"/>
              </a:ext>
            </a:extLst>
          </p:cNvPr>
          <p:cNvSpPr txBox="1"/>
          <p:nvPr/>
        </p:nvSpPr>
        <p:spPr>
          <a:xfrm>
            <a:off x="842129" y="144432"/>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FR" sz="2500"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lang="fr-FR" sz="2500" b="0" i="0" u="none" strike="noStrike" cap="none" noProof="0"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A6438417-14BD-9F76-061B-17656CB6BF86}"/>
              </a:ext>
            </a:extLst>
          </p:cNvPr>
          <p:cNvSpPr/>
          <p:nvPr/>
        </p:nvSpPr>
        <p:spPr>
          <a:xfrm>
            <a:off x="938755" y="668123"/>
            <a:ext cx="5755721" cy="47865"/>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E7872C64-95A9-B1D8-8B6A-AE0246605815}"/>
              </a:ext>
            </a:extLst>
          </p:cNvPr>
          <p:cNvPicPr>
            <a:picLocks noChangeAspect="1"/>
          </p:cNvPicPr>
          <p:nvPr/>
        </p:nvPicPr>
        <p:blipFill>
          <a:blip r:embed="rId3"/>
          <a:stretch>
            <a:fillRect/>
          </a:stretch>
        </p:blipFill>
        <p:spPr>
          <a:xfrm>
            <a:off x="259813" y="1533496"/>
            <a:ext cx="2688806" cy="3465572"/>
          </a:xfrm>
          <a:prstGeom prst="rect">
            <a:avLst/>
          </a:prstGeom>
        </p:spPr>
      </p:pic>
      <p:pic>
        <p:nvPicPr>
          <p:cNvPr id="5" name="Image 4">
            <a:extLst>
              <a:ext uri="{FF2B5EF4-FFF2-40B4-BE49-F238E27FC236}">
                <a16:creationId xmlns:a16="http://schemas.microsoft.com/office/drawing/2014/main" id="{F0702EC1-2650-1AD0-337E-26DAFBFDCE1E}"/>
              </a:ext>
            </a:extLst>
          </p:cNvPr>
          <p:cNvPicPr>
            <a:picLocks noChangeAspect="1"/>
          </p:cNvPicPr>
          <p:nvPr/>
        </p:nvPicPr>
        <p:blipFill>
          <a:blip r:embed="rId4"/>
          <a:stretch>
            <a:fillRect/>
          </a:stretch>
        </p:blipFill>
        <p:spPr>
          <a:xfrm>
            <a:off x="6749241" y="1533496"/>
            <a:ext cx="825489" cy="3250361"/>
          </a:xfrm>
          <a:prstGeom prst="rect">
            <a:avLst/>
          </a:prstGeom>
        </p:spPr>
      </p:pic>
      <p:sp>
        <p:nvSpPr>
          <p:cNvPr id="7" name="Rectangle 6">
            <a:extLst>
              <a:ext uri="{FF2B5EF4-FFF2-40B4-BE49-F238E27FC236}">
                <a16:creationId xmlns:a16="http://schemas.microsoft.com/office/drawing/2014/main" id="{52375D6D-EA9B-A672-2C01-F9C498999C79}"/>
              </a:ext>
            </a:extLst>
          </p:cNvPr>
          <p:cNvSpPr/>
          <p:nvPr/>
        </p:nvSpPr>
        <p:spPr>
          <a:xfrm>
            <a:off x="7238424" y="1839356"/>
            <a:ext cx="347072" cy="153513"/>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a:p>
        </p:txBody>
      </p:sp>
      <p:sp>
        <p:nvSpPr>
          <p:cNvPr id="8" name="Rectangle 7">
            <a:extLst>
              <a:ext uri="{FF2B5EF4-FFF2-40B4-BE49-F238E27FC236}">
                <a16:creationId xmlns:a16="http://schemas.microsoft.com/office/drawing/2014/main" id="{265BAD13-FB7A-E7AD-E21C-41C674240AE9}"/>
              </a:ext>
            </a:extLst>
          </p:cNvPr>
          <p:cNvSpPr/>
          <p:nvPr/>
        </p:nvSpPr>
        <p:spPr>
          <a:xfrm>
            <a:off x="7094169" y="3207560"/>
            <a:ext cx="480561" cy="587412"/>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a:p>
        </p:txBody>
      </p:sp>
      <p:pic>
        <p:nvPicPr>
          <p:cNvPr id="10" name="Image 9">
            <a:extLst>
              <a:ext uri="{FF2B5EF4-FFF2-40B4-BE49-F238E27FC236}">
                <a16:creationId xmlns:a16="http://schemas.microsoft.com/office/drawing/2014/main" id="{D16DD1D1-68AE-7B24-1CEF-7A0334641F4D}"/>
              </a:ext>
            </a:extLst>
          </p:cNvPr>
          <p:cNvPicPr>
            <a:picLocks noChangeAspect="1"/>
          </p:cNvPicPr>
          <p:nvPr/>
        </p:nvPicPr>
        <p:blipFill>
          <a:blip r:embed="rId5"/>
          <a:stretch>
            <a:fillRect/>
          </a:stretch>
        </p:blipFill>
        <p:spPr>
          <a:xfrm>
            <a:off x="3096557" y="1588998"/>
            <a:ext cx="2965335" cy="807742"/>
          </a:xfrm>
          <a:prstGeom prst="rect">
            <a:avLst/>
          </a:prstGeom>
        </p:spPr>
      </p:pic>
      <p:sp>
        <p:nvSpPr>
          <p:cNvPr id="11" name="ZoneTexte 10">
            <a:extLst>
              <a:ext uri="{FF2B5EF4-FFF2-40B4-BE49-F238E27FC236}">
                <a16:creationId xmlns:a16="http://schemas.microsoft.com/office/drawing/2014/main" id="{B6B3E0D2-95A7-DEEF-C3FC-49341C84C699}"/>
              </a:ext>
            </a:extLst>
          </p:cNvPr>
          <p:cNvSpPr txBox="1"/>
          <p:nvPr/>
        </p:nvSpPr>
        <p:spPr>
          <a:xfrm>
            <a:off x="3000376" y="2654576"/>
            <a:ext cx="2883124" cy="1869743"/>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dirty="0"/>
              <a:t>Beaucoup de codes articles manquants (Nan) (</a:t>
            </a:r>
            <a:r>
              <a:rPr lang="fr-FR" sz="1050" dirty="0">
                <a:highlight>
                  <a:srgbClr val="FFFF00"/>
                </a:highlight>
              </a:rPr>
              <a:t>erreur 4</a:t>
            </a:r>
            <a:r>
              <a:rPr lang="fr-FR" sz="1050" dirty="0"/>
              <a:t>)</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Code article erroné (bon-cadeau-25-euros) (</a:t>
            </a:r>
            <a:r>
              <a:rPr lang="fr-FR" sz="1050" dirty="0">
                <a:highlight>
                  <a:srgbClr val="FFFF00"/>
                </a:highlight>
              </a:rPr>
              <a:t>erreur 5</a:t>
            </a:r>
            <a:r>
              <a:rPr lang="fr-FR" sz="1050" dirty="0"/>
              <a:t>)</a:t>
            </a:r>
          </a:p>
          <a:p>
            <a:pPr marL="285750" indent="-285750">
              <a:buClr>
                <a:srgbClr val="C00000"/>
              </a:buClr>
              <a:buFont typeface="Wingdings" panose="05000000000000000000" pitchFamily="2" charset="2"/>
              <a:buChar char="Ø"/>
            </a:pPr>
            <a:r>
              <a:rPr lang="fr-FR" sz="1050" dirty="0"/>
              <a:t>Code article erroné (13127-1) (</a:t>
            </a:r>
            <a:r>
              <a:rPr lang="fr-FR" sz="1050" dirty="0">
                <a:highlight>
                  <a:srgbClr val="FFFF00"/>
                </a:highlight>
              </a:rPr>
              <a:t>erreur 6</a:t>
            </a:r>
            <a:r>
              <a:rPr lang="fr-FR" sz="1050" dirty="0"/>
              <a:t>)</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712 codes articles dupliqués (</a:t>
            </a:r>
            <a:r>
              <a:rPr lang="fr-FR" sz="1050" dirty="0">
                <a:highlight>
                  <a:srgbClr val="FFFF00"/>
                </a:highlight>
              </a:rPr>
              <a:t>erreur 7</a:t>
            </a:r>
            <a:r>
              <a:rPr lang="fr-FR" sz="1050" dirty="0"/>
              <a:t>)</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Notre fichier contient à la fin 712 lignes</a:t>
            </a:r>
          </a:p>
          <a:p>
            <a:pPr marL="285750" indent="-285750">
              <a:buClr>
                <a:srgbClr val="C00000"/>
              </a:buClr>
              <a:buFont typeface="Wingdings" panose="05000000000000000000" pitchFamily="2" charset="2"/>
              <a:buChar char="Ø"/>
            </a:pPr>
            <a:endParaRPr lang="en-GB" sz="1050" dirty="0"/>
          </a:p>
        </p:txBody>
      </p:sp>
    </p:spTree>
    <p:extLst>
      <p:ext uri="{BB962C8B-B14F-4D97-AF65-F5344CB8AC3E}">
        <p14:creationId xmlns:p14="http://schemas.microsoft.com/office/powerpoint/2010/main" val="199501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CB50F1ED-8B73-6FD8-9345-BDBEE7736B16}"/>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339E7A4F-BB5D-A0E5-CBA8-8B4C8440B332}"/>
              </a:ext>
            </a:extLst>
          </p:cNvPr>
          <p:cNvSpPr txBox="1">
            <a:spLocks noGrp="1"/>
          </p:cNvSpPr>
          <p:nvPr>
            <p:ph type="body" idx="1"/>
          </p:nvPr>
        </p:nvSpPr>
        <p:spPr>
          <a:xfrm>
            <a:off x="208056" y="1094610"/>
            <a:ext cx="8520600" cy="3711990"/>
          </a:xfrm>
          <a:prstGeom prst="rect">
            <a:avLst/>
          </a:prstGeom>
          <a:noFill/>
          <a:ln>
            <a:noFill/>
          </a:ln>
        </p:spPr>
        <p:txBody>
          <a:bodyPr spcFirstLastPara="1" wrap="square" lIns="91425" tIns="91425" rIns="91425" bIns="91425" anchor="t" anchorCtr="0">
            <a:normAutofit/>
          </a:bodyPr>
          <a:lstStyle/>
          <a:p>
            <a:pPr marL="114300" indent="0">
              <a:buClrTx/>
              <a:buNone/>
            </a:pPr>
            <a:r>
              <a:rPr lang="fr-FR" sz="1600" b="1" noProof="0" dirty="0">
                <a:solidFill>
                  <a:schemeClr val="tx1"/>
                </a:solidFill>
                <a:latin typeface="+mj-lt"/>
                <a:ea typeface="Montserrat"/>
                <a:cs typeface="Montserrat"/>
                <a:sym typeface="Montserrat"/>
              </a:rPr>
              <a:t>Analyse exploratoire du fichier</a:t>
            </a:r>
            <a:r>
              <a:rPr lang="fr-FR" sz="1600" b="1" dirty="0">
                <a:solidFill>
                  <a:schemeClr val="tx1"/>
                </a:solidFill>
                <a:latin typeface="+mj-lt"/>
                <a:ea typeface="Montserrat"/>
                <a:cs typeface="Montserrat"/>
                <a:sym typeface="Montserrat"/>
              </a:rPr>
              <a:t> liaison</a:t>
            </a:r>
            <a:r>
              <a:rPr lang="fr-FR" sz="1600" b="1" noProof="0" dirty="0">
                <a:solidFill>
                  <a:schemeClr val="tx1"/>
                </a:solidFill>
                <a:latin typeface="+mj-lt"/>
                <a:ea typeface="Montserrat"/>
                <a:cs typeface="Montserrat"/>
                <a:sym typeface="Montserrat"/>
              </a:rPr>
              <a:t>:</a:t>
            </a:r>
          </a:p>
          <a:p>
            <a:pPr marL="114300" indent="0">
              <a:buClrTx/>
              <a:buNone/>
            </a:pPr>
            <a:endParaRPr lang="fr-FR" sz="1600" b="1" noProof="0" dirty="0">
              <a:solidFill>
                <a:schemeClr val="tx1"/>
              </a:solidFill>
              <a:latin typeface="+mj-l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buClrTx/>
              <a:buNone/>
            </a:pPr>
            <a:endParaRPr lang="fr-FR" sz="1600" b="1" noProof="0" dirty="0">
              <a:solidFill>
                <a:schemeClr val="tx1"/>
              </a:solidFill>
              <a:latin typeface="Montserrat"/>
              <a:ea typeface="Montserrat"/>
              <a:cs typeface="Montserrat"/>
              <a:sym typeface="Montserrat"/>
            </a:endParaRPr>
          </a:p>
          <a:p>
            <a:pPr marL="114300" indent="0">
              <a:lnSpc>
                <a:spcPct val="107000"/>
              </a:lnSpc>
              <a:spcAft>
                <a:spcPts val="800"/>
              </a:spcAft>
              <a:buNone/>
            </a:pPr>
            <a:endParaRPr lang="fr-FR" sz="18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4" name="Google Shape;64;p4">
            <a:extLst>
              <a:ext uri="{FF2B5EF4-FFF2-40B4-BE49-F238E27FC236}">
                <a16:creationId xmlns:a16="http://schemas.microsoft.com/office/drawing/2014/main" id="{AFDB165F-B62A-1643-AB4B-451B64F2DF45}"/>
              </a:ext>
            </a:extLst>
          </p:cNvPr>
          <p:cNvSpPr/>
          <p:nvPr/>
        </p:nvSpPr>
        <p:spPr>
          <a:xfrm>
            <a:off x="0" y="0"/>
            <a:ext cx="9144000" cy="1014517"/>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45C1E7C7-D1FE-D3F6-13B2-3970EE5A8D74}"/>
              </a:ext>
            </a:extLst>
          </p:cNvPr>
          <p:cNvSpPr txBox="1"/>
          <p:nvPr/>
        </p:nvSpPr>
        <p:spPr>
          <a:xfrm>
            <a:off x="842129" y="144432"/>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FR" sz="2500"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FR" sz="2500" b="0" i="0" u="none" strike="noStrike" cap="none" noProof="0" dirty="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lang="fr-FR" sz="2500" b="0" i="0" u="none" strike="noStrike" cap="none" noProof="0"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2A498117-4CC4-7456-B3ED-0FCACCAC2695}"/>
              </a:ext>
            </a:extLst>
          </p:cNvPr>
          <p:cNvSpPr/>
          <p:nvPr/>
        </p:nvSpPr>
        <p:spPr>
          <a:xfrm>
            <a:off x="938755" y="668123"/>
            <a:ext cx="5755721" cy="47865"/>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pic>
        <p:nvPicPr>
          <p:cNvPr id="4" name="Image 3">
            <a:extLst>
              <a:ext uri="{FF2B5EF4-FFF2-40B4-BE49-F238E27FC236}">
                <a16:creationId xmlns:a16="http://schemas.microsoft.com/office/drawing/2014/main" id="{F85571F4-D3C9-BF8A-52D6-4F64D15E06D9}"/>
              </a:ext>
            </a:extLst>
          </p:cNvPr>
          <p:cNvPicPr>
            <a:picLocks noChangeAspect="1"/>
          </p:cNvPicPr>
          <p:nvPr/>
        </p:nvPicPr>
        <p:blipFill>
          <a:blip r:embed="rId3"/>
          <a:stretch>
            <a:fillRect/>
          </a:stretch>
        </p:blipFill>
        <p:spPr>
          <a:xfrm>
            <a:off x="415344" y="1710561"/>
            <a:ext cx="1677235" cy="1781942"/>
          </a:xfrm>
          <a:prstGeom prst="rect">
            <a:avLst/>
          </a:prstGeom>
        </p:spPr>
      </p:pic>
      <p:sp>
        <p:nvSpPr>
          <p:cNvPr id="12" name="ZoneTexte 11">
            <a:extLst>
              <a:ext uri="{FF2B5EF4-FFF2-40B4-BE49-F238E27FC236}">
                <a16:creationId xmlns:a16="http://schemas.microsoft.com/office/drawing/2014/main" id="{B6EE313C-EB39-668F-85A2-7ED148465440}"/>
              </a:ext>
            </a:extLst>
          </p:cNvPr>
          <p:cNvSpPr txBox="1"/>
          <p:nvPr/>
        </p:nvSpPr>
        <p:spPr>
          <a:xfrm>
            <a:off x="484892" y="3635074"/>
            <a:ext cx="3751804" cy="1384995"/>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dirty="0"/>
              <a:t>Aucune valeur nulles (NaN) dans ‘</a:t>
            </a:r>
            <a:r>
              <a:rPr lang="fr-FR" sz="1050" dirty="0" err="1"/>
              <a:t>produc_id</a:t>
            </a:r>
            <a:r>
              <a:rPr lang="fr-FR" sz="1050" dirty="0"/>
              <a:t> ’</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91 valeurs nulles (NaN) dans la colonne ‘</a:t>
            </a:r>
            <a:r>
              <a:rPr lang="fr-FR" sz="1050" dirty="0" err="1"/>
              <a:t>id_web</a:t>
            </a:r>
            <a:r>
              <a:rPr lang="fr-FR" sz="1050" dirty="0"/>
              <a:t>’ (</a:t>
            </a:r>
            <a:r>
              <a:rPr lang="fr-FR" sz="1050" dirty="0">
                <a:highlight>
                  <a:srgbClr val="FFFF00"/>
                </a:highlight>
              </a:rPr>
              <a:t>erreur 8</a:t>
            </a:r>
            <a:r>
              <a:rPr lang="fr-FR" sz="1050" dirty="0"/>
              <a:t>)</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Code article erroné (bon-cadeau-25-euros)</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Suppression de 91 lignes sans </a:t>
            </a:r>
            <a:r>
              <a:rPr lang="fr-FR" sz="1050" dirty="0" err="1"/>
              <a:t>id_web</a:t>
            </a:r>
            <a:endParaRPr lang="fr-FR" sz="1050" dirty="0"/>
          </a:p>
        </p:txBody>
      </p:sp>
      <p:pic>
        <p:nvPicPr>
          <p:cNvPr id="3" name="Image 2">
            <a:extLst>
              <a:ext uri="{FF2B5EF4-FFF2-40B4-BE49-F238E27FC236}">
                <a16:creationId xmlns:a16="http://schemas.microsoft.com/office/drawing/2014/main" id="{33FEDA49-5874-4AA9-D03D-D77B42FCA3F2}"/>
              </a:ext>
            </a:extLst>
          </p:cNvPr>
          <p:cNvPicPr>
            <a:picLocks noChangeAspect="1"/>
          </p:cNvPicPr>
          <p:nvPr/>
        </p:nvPicPr>
        <p:blipFill>
          <a:blip r:embed="rId4"/>
          <a:stretch>
            <a:fillRect/>
          </a:stretch>
        </p:blipFill>
        <p:spPr>
          <a:xfrm>
            <a:off x="6496707" y="1341898"/>
            <a:ext cx="1022403" cy="2349621"/>
          </a:xfrm>
          <a:prstGeom prst="rect">
            <a:avLst/>
          </a:prstGeom>
        </p:spPr>
      </p:pic>
      <p:pic>
        <p:nvPicPr>
          <p:cNvPr id="8" name="Image 7">
            <a:extLst>
              <a:ext uri="{FF2B5EF4-FFF2-40B4-BE49-F238E27FC236}">
                <a16:creationId xmlns:a16="http://schemas.microsoft.com/office/drawing/2014/main" id="{0ECE9A99-7B7D-CAF4-D4CA-3889E3512D67}"/>
              </a:ext>
            </a:extLst>
          </p:cNvPr>
          <p:cNvPicPr>
            <a:picLocks noChangeAspect="1"/>
          </p:cNvPicPr>
          <p:nvPr/>
        </p:nvPicPr>
        <p:blipFill>
          <a:blip r:embed="rId5"/>
          <a:stretch>
            <a:fillRect/>
          </a:stretch>
        </p:blipFill>
        <p:spPr>
          <a:xfrm>
            <a:off x="4352590" y="1398430"/>
            <a:ext cx="1093764" cy="2293176"/>
          </a:xfrm>
          <a:prstGeom prst="rect">
            <a:avLst/>
          </a:prstGeom>
        </p:spPr>
      </p:pic>
    </p:spTree>
    <p:extLst>
      <p:ext uri="{BB962C8B-B14F-4D97-AF65-F5344CB8AC3E}">
        <p14:creationId xmlns:p14="http://schemas.microsoft.com/office/powerpoint/2010/main" val="603013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C2D5257A-CD92-BCDB-36B3-CC75B2FABBD3}"/>
            </a:ext>
          </a:extLst>
        </p:cNvPr>
        <p:cNvGrpSpPr/>
        <p:nvPr/>
      </p:nvGrpSpPr>
      <p:grpSpPr>
        <a:xfrm>
          <a:off x="0" y="0"/>
          <a:ext cx="0" cy="0"/>
          <a:chOff x="0" y="0"/>
          <a:chExt cx="0" cy="0"/>
        </a:xfrm>
      </p:grpSpPr>
      <p:sp>
        <p:nvSpPr>
          <p:cNvPr id="72" name="Google Shape;72;p5">
            <a:extLst>
              <a:ext uri="{FF2B5EF4-FFF2-40B4-BE49-F238E27FC236}">
                <a16:creationId xmlns:a16="http://schemas.microsoft.com/office/drawing/2014/main" id="{F656AD8D-0F59-5675-8B6D-BF4807BC5160}"/>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DBB257DC-6AE9-3935-99DC-C890D0C872A8}"/>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Fusion ou consolidations des données</a:t>
            </a:r>
          </a:p>
        </p:txBody>
      </p:sp>
      <p:sp>
        <p:nvSpPr>
          <p:cNvPr id="74" name="Google Shape;74;p5">
            <a:extLst>
              <a:ext uri="{FF2B5EF4-FFF2-40B4-BE49-F238E27FC236}">
                <a16:creationId xmlns:a16="http://schemas.microsoft.com/office/drawing/2014/main" id="{C4E2C972-0948-BBA9-942B-B3C23409871A}"/>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3" name="Espace réservé du texte 2">
            <a:extLst>
              <a:ext uri="{FF2B5EF4-FFF2-40B4-BE49-F238E27FC236}">
                <a16:creationId xmlns:a16="http://schemas.microsoft.com/office/drawing/2014/main" id="{F6EE8386-EC04-9196-C06A-80485F88730A}"/>
              </a:ext>
            </a:extLst>
          </p:cNvPr>
          <p:cNvSpPr>
            <a:spLocks noGrp="1"/>
          </p:cNvSpPr>
          <p:nvPr>
            <p:ph type="body" idx="1"/>
          </p:nvPr>
        </p:nvSpPr>
        <p:spPr>
          <a:xfrm>
            <a:off x="137528" y="1566132"/>
            <a:ext cx="8520600" cy="3416400"/>
          </a:xfrm>
        </p:spPr>
        <p:txBody>
          <a:bodyPr/>
          <a:lstStyle/>
          <a:p>
            <a:pPr marL="114300" indent="0">
              <a:buNone/>
            </a:pPr>
            <a:r>
              <a:rPr lang="fr-FR" sz="1050" b="1" dirty="0">
                <a:solidFill>
                  <a:schemeClr val="tx1"/>
                </a:solidFill>
                <a:latin typeface="+mn-lt"/>
              </a:rPr>
              <a:t>Jonction du fichier </a:t>
            </a:r>
            <a:r>
              <a:rPr lang="fr-FR" sz="1050" b="1" dirty="0" err="1">
                <a:solidFill>
                  <a:schemeClr val="tx1"/>
                </a:solidFill>
                <a:latin typeface="+mn-lt"/>
              </a:rPr>
              <a:t>df_erp</a:t>
            </a:r>
            <a:r>
              <a:rPr lang="fr-FR" sz="1050" b="1" dirty="0">
                <a:solidFill>
                  <a:schemeClr val="tx1"/>
                </a:solidFill>
                <a:latin typeface="+mn-lt"/>
              </a:rPr>
              <a:t> et </a:t>
            </a:r>
            <a:r>
              <a:rPr lang="fr-FR" sz="1050" b="1" dirty="0" err="1">
                <a:solidFill>
                  <a:schemeClr val="tx1"/>
                </a:solidFill>
                <a:latin typeface="+mn-lt"/>
              </a:rPr>
              <a:t>df_liaison</a:t>
            </a:r>
            <a:r>
              <a:rPr lang="fr-FR" sz="1050" b="1" dirty="0">
                <a:solidFill>
                  <a:schemeClr val="tx1"/>
                </a:solidFill>
                <a:latin typeface="+mn-lt"/>
              </a:rPr>
              <a:t>         </a:t>
            </a:r>
            <a:r>
              <a:rPr lang="fr-FR" sz="1050" b="1" i="0" dirty="0">
                <a:solidFill>
                  <a:schemeClr val="tx1"/>
                </a:solidFill>
                <a:effectLst/>
                <a:latin typeface="+mn-lt"/>
              </a:rPr>
              <a:t>Jonction du fichier </a:t>
            </a:r>
            <a:r>
              <a:rPr lang="fr-FR" sz="1050" b="1" i="0" dirty="0" err="1">
                <a:solidFill>
                  <a:schemeClr val="tx1"/>
                </a:solidFill>
                <a:effectLst/>
                <a:latin typeface="+mn-lt"/>
              </a:rPr>
              <a:t>df_merge</a:t>
            </a:r>
            <a:r>
              <a:rPr lang="fr-FR" sz="1050" b="1" i="0" dirty="0">
                <a:solidFill>
                  <a:schemeClr val="tx1"/>
                </a:solidFill>
                <a:effectLst/>
                <a:latin typeface="+mn-lt"/>
              </a:rPr>
              <a:t> et </a:t>
            </a:r>
            <a:r>
              <a:rPr lang="fr-FR" sz="1050" b="1" i="0" dirty="0" err="1">
                <a:solidFill>
                  <a:schemeClr val="tx1"/>
                </a:solidFill>
                <a:effectLst/>
                <a:latin typeface="+mn-lt"/>
              </a:rPr>
              <a:t>df_web</a:t>
            </a:r>
            <a:r>
              <a:rPr lang="fr-FR" sz="1050" b="1" i="0" dirty="0">
                <a:solidFill>
                  <a:schemeClr val="tx1"/>
                </a:solidFill>
                <a:effectLst/>
                <a:latin typeface="+mn-lt"/>
              </a:rPr>
              <a:t>           </a:t>
            </a:r>
          </a:p>
          <a:p>
            <a:pPr marL="114300" indent="0">
              <a:buNone/>
            </a:pPr>
            <a:endParaRPr lang="fr-FR" sz="1050" b="1" dirty="0">
              <a:solidFill>
                <a:schemeClr val="tx1"/>
              </a:solidFill>
              <a:latin typeface="+mn-lt"/>
            </a:endParaRPr>
          </a:p>
          <a:p>
            <a:pPr marL="114300" indent="0">
              <a:buNone/>
            </a:pPr>
            <a:r>
              <a:rPr lang="fr-FR" sz="1050" b="1" i="0" dirty="0">
                <a:solidFill>
                  <a:schemeClr val="tx1"/>
                </a:solidFill>
                <a:effectLst/>
                <a:latin typeface="+mn-lt"/>
              </a:rPr>
              <a:t>                                                                                                                                                                                        </a:t>
            </a:r>
            <a:r>
              <a:rPr lang="fr-FR" sz="1050" b="1" i="0" dirty="0" err="1">
                <a:solidFill>
                  <a:schemeClr val="tx1"/>
                </a:solidFill>
                <a:effectLst/>
                <a:latin typeface="+mn-lt"/>
              </a:rPr>
              <a:t>df_final</a:t>
            </a:r>
            <a:endParaRPr lang="fr-FR" sz="1050" b="1" i="0" dirty="0">
              <a:solidFill>
                <a:schemeClr val="tx1"/>
              </a:solidFill>
              <a:effectLst/>
              <a:latin typeface="+mn-lt"/>
            </a:endParaRPr>
          </a:p>
          <a:p>
            <a:pPr marL="114300" indent="0">
              <a:buNone/>
            </a:pPr>
            <a:r>
              <a:rPr lang="fr-FR" sz="1050" b="1" dirty="0">
                <a:solidFill>
                  <a:schemeClr val="tx1"/>
                </a:solidFill>
                <a:latin typeface="+mn-lt"/>
              </a:rPr>
              <a:t>    </a:t>
            </a:r>
          </a:p>
          <a:p>
            <a:pPr marL="114300" indent="0">
              <a:buNone/>
            </a:pPr>
            <a:endParaRPr lang="fr-FR" sz="1050" b="1" dirty="0">
              <a:solidFill>
                <a:schemeClr val="tx1"/>
              </a:solidFill>
              <a:latin typeface="+mn-lt"/>
            </a:endParaRPr>
          </a:p>
          <a:p>
            <a:pPr marL="114300" indent="0">
              <a:buNone/>
            </a:pPr>
            <a:endParaRPr lang="fr-FR" sz="1050" b="1" dirty="0">
              <a:solidFill>
                <a:schemeClr val="tx1"/>
              </a:solidFill>
              <a:latin typeface="+mn-lt"/>
            </a:endParaRPr>
          </a:p>
          <a:p>
            <a:pPr marL="114300" indent="0">
              <a:buNone/>
            </a:pPr>
            <a:endParaRPr lang="fr-FR" sz="1050" b="1" dirty="0"/>
          </a:p>
          <a:p>
            <a:pPr marL="114300" indent="0">
              <a:buNone/>
            </a:pPr>
            <a:endParaRPr lang="en-GB" dirty="0"/>
          </a:p>
        </p:txBody>
      </p:sp>
      <p:pic>
        <p:nvPicPr>
          <p:cNvPr id="12" name="Image 11">
            <a:extLst>
              <a:ext uri="{FF2B5EF4-FFF2-40B4-BE49-F238E27FC236}">
                <a16:creationId xmlns:a16="http://schemas.microsoft.com/office/drawing/2014/main" id="{6FC5583F-33D8-9018-EBB7-08D1D9EF1367}"/>
              </a:ext>
            </a:extLst>
          </p:cNvPr>
          <p:cNvPicPr>
            <a:picLocks noChangeAspect="1"/>
          </p:cNvPicPr>
          <p:nvPr/>
        </p:nvPicPr>
        <p:blipFill>
          <a:blip r:embed="rId3"/>
          <a:stretch>
            <a:fillRect/>
          </a:stretch>
        </p:blipFill>
        <p:spPr>
          <a:xfrm>
            <a:off x="298497" y="1943883"/>
            <a:ext cx="2518122" cy="552478"/>
          </a:xfrm>
          <a:prstGeom prst="rect">
            <a:avLst/>
          </a:prstGeom>
        </p:spPr>
      </p:pic>
      <p:pic>
        <p:nvPicPr>
          <p:cNvPr id="14" name="Image 13">
            <a:extLst>
              <a:ext uri="{FF2B5EF4-FFF2-40B4-BE49-F238E27FC236}">
                <a16:creationId xmlns:a16="http://schemas.microsoft.com/office/drawing/2014/main" id="{E5AFB514-84E8-9B13-1896-7C2F21182D1F}"/>
              </a:ext>
            </a:extLst>
          </p:cNvPr>
          <p:cNvPicPr>
            <a:picLocks noChangeAspect="1"/>
          </p:cNvPicPr>
          <p:nvPr/>
        </p:nvPicPr>
        <p:blipFill>
          <a:blip r:embed="rId4"/>
          <a:stretch>
            <a:fillRect/>
          </a:stretch>
        </p:blipFill>
        <p:spPr>
          <a:xfrm>
            <a:off x="298497" y="2614585"/>
            <a:ext cx="2591541" cy="2044805"/>
          </a:xfrm>
          <a:prstGeom prst="rect">
            <a:avLst/>
          </a:prstGeom>
        </p:spPr>
      </p:pic>
      <p:pic>
        <p:nvPicPr>
          <p:cNvPr id="16" name="Image 15">
            <a:extLst>
              <a:ext uri="{FF2B5EF4-FFF2-40B4-BE49-F238E27FC236}">
                <a16:creationId xmlns:a16="http://schemas.microsoft.com/office/drawing/2014/main" id="{675DE145-729F-81B3-A1F0-DF5589C3D4CD}"/>
              </a:ext>
            </a:extLst>
          </p:cNvPr>
          <p:cNvPicPr>
            <a:picLocks noChangeAspect="1"/>
          </p:cNvPicPr>
          <p:nvPr/>
        </p:nvPicPr>
        <p:blipFill>
          <a:blip r:embed="rId5"/>
          <a:stretch>
            <a:fillRect/>
          </a:stretch>
        </p:blipFill>
        <p:spPr>
          <a:xfrm>
            <a:off x="3102111" y="1943883"/>
            <a:ext cx="2682348" cy="387370"/>
          </a:xfrm>
          <a:prstGeom prst="rect">
            <a:avLst/>
          </a:prstGeom>
        </p:spPr>
      </p:pic>
      <p:pic>
        <p:nvPicPr>
          <p:cNvPr id="18" name="Image 17">
            <a:extLst>
              <a:ext uri="{FF2B5EF4-FFF2-40B4-BE49-F238E27FC236}">
                <a16:creationId xmlns:a16="http://schemas.microsoft.com/office/drawing/2014/main" id="{7700A27C-EF44-FD60-65AF-0285F5E63E10}"/>
              </a:ext>
            </a:extLst>
          </p:cNvPr>
          <p:cNvPicPr>
            <a:picLocks noChangeAspect="1"/>
          </p:cNvPicPr>
          <p:nvPr/>
        </p:nvPicPr>
        <p:blipFill>
          <a:blip r:embed="rId6"/>
          <a:stretch>
            <a:fillRect/>
          </a:stretch>
        </p:blipFill>
        <p:spPr>
          <a:xfrm>
            <a:off x="3102111" y="2709004"/>
            <a:ext cx="2682348" cy="1950386"/>
          </a:xfrm>
          <a:prstGeom prst="rect">
            <a:avLst/>
          </a:prstGeom>
        </p:spPr>
      </p:pic>
      <p:pic>
        <p:nvPicPr>
          <p:cNvPr id="26" name="Image 25">
            <a:extLst>
              <a:ext uri="{FF2B5EF4-FFF2-40B4-BE49-F238E27FC236}">
                <a16:creationId xmlns:a16="http://schemas.microsoft.com/office/drawing/2014/main" id="{31D6F431-F952-5668-EBD2-79D0399B476D}"/>
              </a:ext>
            </a:extLst>
          </p:cNvPr>
          <p:cNvPicPr>
            <a:picLocks noChangeAspect="1"/>
          </p:cNvPicPr>
          <p:nvPr/>
        </p:nvPicPr>
        <p:blipFill>
          <a:blip r:embed="rId7"/>
          <a:stretch>
            <a:fillRect/>
          </a:stretch>
        </p:blipFill>
        <p:spPr>
          <a:xfrm>
            <a:off x="5957616" y="2190618"/>
            <a:ext cx="2887887" cy="1493579"/>
          </a:xfrm>
          <a:prstGeom prst="rect">
            <a:avLst/>
          </a:prstGeom>
        </p:spPr>
      </p:pic>
      <p:pic>
        <p:nvPicPr>
          <p:cNvPr id="30" name="Image 29">
            <a:extLst>
              <a:ext uri="{FF2B5EF4-FFF2-40B4-BE49-F238E27FC236}">
                <a16:creationId xmlns:a16="http://schemas.microsoft.com/office/drawing/2014/main" id="{B5EC687C-761A-A058-C278-9AAC75CE07E2}"/>
              </a:ext>
            </a:extLst>
          </p:cNvPr>
          <p:cNvPicPr>
            <a:picLocks noChangeAspect="1"/>
          </p:cNvPicPr>
          <p:nvPr/>
        </p:nvPicPr>
        <p:blipFill>
          <a:blip r:embed="rId8"/>
          <a:stretch>
            <a:fillRect/>
          </a:stretch>
        </p:blipFill>
        <p:spPr>
          <a:xfrm>
            <a:off x="5957617" y="3684197"/>
            <a:ext cx="2887886" cy="676078"/>
          </a:xfrm>
          <a:prstGeom prst="rect">
            <a:avLst/>
          </a:prstGeom>
        </p:spPr>
      </p:pic>
    </p:spTree>
    <p:extLst>
      <p:ext uri="{BB962C8B-B14F-4D97-AF65-F5344CB8AC3E}">
        <p14:creationId xmlns:p14="http://schemas.microsoft.com/office/powerpoint/2010/main" val="44317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9DE68006-E7AB-4A8A-424B-406095E3E2A4}"/>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48B010ED-D598-DA4E-7D30-8B2205C86980}"/>
              </a:ext>
            </a:extLst>
          </p:cNvPr>
          <p:cNvSpPr txBox="1">
            <a:spLocks noGrp="1"/>
          </p:cNvSpPr>
          <p:nvPr>
            <p:ph type="body" idx="1"/>
          </p:nvPr>
        </p:nvSpPr>
        <p:spPr>
          <a:xfrm>
            <a:off x="323672" y="1001128"/>
            <a:ext cx="8723309" cy="3744408"/>
          </a:xfrm>
          <a:prstGeom prst="rect">
            <a:avLst/>
          </a:prstGeom>
          <a:noFill/>
          <a:ln>
            <a:noFill/>
          </a:ln>
        </p:spPr>
        <p:txBody>
          <a:bodyPr spcFirstLastPara="1" wrap="square" lIns="91425" tIns="91425" rIns="91425" bIns="91425" anchor="t" anchorCtr="0">
            <a:normAutofit/>
          </a:bodyPr>
          <a:lstStyle/>
          <a:p>
            <a:pPr marL="114300" marR="0" lvl="0" indent="0" algn="l" rtl="0">
              <a:lnSpc>
                <a:spcPct val="115000"/>
              </a:lnSpc>
              <a:spcBef>
                <a:spcPts val="0"/>
              </a:spcBef>
              <a:spcAft>
                <a:spcPts val="0"/>
              </a:spcAft>
              <a:buClr>
                <a:srgbClr val="999999"/>
              </a:buClr>
              <a:buSzPts val="1800"/>
              <a:buNone/>
            </a:pPr>
            <a:r>
              <a:rPr lang="fr-FR" sz="1050" b="1" noProof="0" dirty="0">
                <a:solidFill>
                  <a:schemeClr val="tx1"/>
                </a:solidFill>
                <a:latin typeface="+mn-lt"/>
                <a:ea typeface="Montserrat"/>
                <a:cs typeface="Montserrat"/>
                <a:sym typeface="Montserrat"/>
              </a:rPr>
              <a:t>Méthodes statistiques employés</a:t>
            </a:r>
            <a:r>
              <a:rPr lang="fr-FR" sz="1050" b="1" dirty="0">
                <a:solidFill>
                  <a:schemeClr val="tx1"/>
                </a:solidFill>
                <a:latin typeface="+mn-lt"/>
                <a:ea typeface="Montserrat"/>
                <a:cs typeface="Montserrat"/>
                <a:sym typeface="Montserrat"/>
              </a:rPr>
              <a:t>:</a:t>
            </a:r>
          </a:p>
          <a:p>
            <a:pPr marL="114300" marR="0" lvl="0" indent="0" algn="l" rtl="0">
              <a:lnSpc>
                <a:spcPct val="115000"/>
              </a:lnSpc>
              <a:spcBef>
                <a:spcPts val="0"/>
              </a:spcBef>
              <a:spcAft>
                <a:spcPts val="0"/>
              </a:spcAft>
              <a:buClr>
                <a:srgbClr val="999999"/>
              </a:buClr>
              <a:buSzPts val="1800"/>
              <a:buNone/>
            </a:pPr>
            <a:endParaRPr lang="fr-FR" sz="1050" b="1" dirty="0">
              <a:solidFill>
                <a:schemeClr val="tx1"/>
              </a:solidFill>
              <a:latin typeface="+mn-lt"/>
              <a:ea typeface="Montserrat"/>
              <a:cs typeface="Montserrat"/>
              <a:sym typeface="Montserrat"/>
            </a:endParaRPr>
          </a:p>
          <a:p>
            <a:pPr marL="114300" indent="0">
              <a:buClr>
                <a:srgbClr val="999999"/>
              </a:buClr>
              <a:buNone/>
            </a:pPr>
            <a:r>
              <a:rPr lang="fr-FR" sz="1050" b="1" i="0" dirty="0">
                <a:solidFill>
                  <a:schemeClr val="tx1"/>
                </a:solidFill>
                <a:effectLst/>
                <a:latin typeface="system-ui"/>
              </a:rPr>
              <a:t>Exploration par la visualisation de données avec une boite à moustaches:</a:t>
            </a:r>
          </a:p>
          <a:p>
            <a:pPr marL="114300" indent="0">
              <a:buClr>
                <a:srgbClr val="999999"/>
              </a:buClr>
              <a:buNone/>
            </a:pPr>
            <a:endParaRPr lang="fr-FR" sz="1050" b="1" dirty="0">
              <a:solidFill>
                <a:schemeClr val="tx1"/>
              </a:solidFill>
              <a:latin typeface="system-ui"/>
            </a:endParaRPr>
          </a:p>
          <a:p>
            <a:pPr marL="114300" indent="0">
              <a:buClr>
                <a:srgbClr val="999999"/>
              </a:buClr>
              <a:buNone/>
            </a:pPr>
            <a:endParaRPr lang="fr-FR" sz="1050" b="1" i="0" dirty="0">
              <a:solidFill>
                <a:schemeClr val="tx1"/>
              </a:solidFill>
              <a:effectLst/>
              <a:latin typeface="system-ui"/>
            </a:endParaRPr>
          </a:p>
          <a:p>
            <a:pPr marL="114300" marR="0" lvl="0" indent="0" algn="l" rtl="0">
              <a:lnSpc>
                <a:spcPct val="115000"/>
              </a:lnSpc>
              <a:spcBef>
                <a:spcPts val="0"/>
              </a:spcBef>
              <a:spcAft>
                <a:spcPts val="0"/>
              </a:spcAft>
              <a:buClr>
                <a:srgbClr val="999999"/>
              </a:buClr>
              <a:buSzPts val="1800"/>
              <a:buNone/>
            </a:pPr>
            <a:endParaRPr lang="fr-FR" sz="1050" b="1" noProof="0" dirty="0">
              <a:solidFill>
                <a:schemeClr val="tx1"/>
              </a:solidFill>
              <a:latin typeface="+mn-lt"/>
              <a:ea typeface="Montserrat"/>
              <a:cs typeface="Montserrat"/>
              <a:sym typeface="Montserrat"/>
            </a:endParaRPr>
          </a:p>
          <a:p>
            <a:pPr marL="114300" marR="0" lvl="0" indent="0" algn="l" rtl="0">
              <a:lnSpc>
                <a:spcPct val="115000"/>
              </a:lnSpc>
              <a:spcBef>
                <a:spcPts val="0"/>
              </a:spcBef>
              <a:spcAft>
                <a:spcPts val="0"/>
              </a:spcAft>
              <a:buClr>
                <a:srgbClr val="999999"/>
              </a:buClr>
              <a:buSzPts val="1800"/>
              <a:buNone/>
            </a:pPr>
            <a:endParaRPr lang="fr-FR" i="1" noProof="0" dirty="0">
              <a:solidFill>
                <a:schemeClr val="tx1"/>
              </a:solidFill>
              <a:latin typeface="Montserrat"/>
              <a:ea typeface="Montserrat"/>
              <a:cs typeface="Montserrat"/>
              <a:sym typeface="Montserrat"/>
            </a:endParaRPr>
          </a:p>
        </p:txBody>
      </p:sp>
      <p:sp>
        <p:nvSpPr>
          <p:cNvPr id="80" name="Google Shape;80;p6">
            <a:extLst>
              <a:ext uri="{FF2B5EF4-FFF2-40B4-BE49-F238E27FC236}">
                <a16:creationId xmlns:a16="http://schemas.microsoft.com/office/drawing/2014/main" id="{4D975318-0D2C-14A5-7723-75F865F0ABF5}"/>
              </a:ext>
            </a:extLst>
          </p:cNvPr>
          <p:cNvSpPr/>
          <p:nvPr/>
        </p:nvSpPr>
        <p:spPr>
          <a:xfrm>
            <a:off x="0" y="0"/>
            <a:ext cx="9144000" cy="99335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7E869137-FC55-8DBF-74C7-C4FAB024F36B}"/>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univariées du prix</a:t>
            </a:r>
          </a:p>
        </p:txBody>
      </p:sp>
      <p:sp>
        <p:nvSpPr>
          <p:cNvPr id="82" name="Google Shape;82;p6">
            <a:extLst>
              <a:ext uri="{FF2B5EF4-FFF2-40B4-BE49-F238E27FC236}">
                <a16:creationId xmlns:a16="http://schemas.microsoft.com/office/drawing/2014/main" id="{0BED5A85-31EC-FBD8-4B40-C72C381AB190}"/>
              </a:ext>
            </a:extLst>
          </p:cNvPr>
          <p:cNvSpPr/>
          <p:nvPr/>
        </p:nvSpPr>
        <p:spPr>
          <a:xfrm>
            <a:off x="998826" y="786431"/>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CDA0E650-28AA-7AE6-A383-D6FE906592B8}"/>
              </a:ext>
            </a:extLst>
          </p:cNvPr>
          <p:cNvPicPr>
            <a:picLocks noChangeAspect="1"/>
          </p:cNvPicPr>
          <p:nvPr/>
        </p:nvPicPr>
        <p:blipFill>
          <a:blip r:embed="rId3"/>
          <a:stretch>
            <a:fillRect/>
          </a:stretch>
        </p:blipFill>
        <p:spPr>
          <a:xfrm>
            <a:off x="166862" y="2675454"/>
            <a:ext cx="2833343" cy="2013521"/>
          </a:xfrm>
          <a:prstGeom prst="rect">
            <a:avLst/>
          </a:prstGeom>
        </p:spPr>
      </p:pic>
      <p:pic>
        <p:nvPicPr>
          <p:cNvPr id="5" name="Image 4">
            <a:extLst>
              <a:ext uri="{FF2B5EF4-FFF2-40B4-BE49-F238E27FC236}">
                <a16:creationId xmlns:a16="http://schemas.microsoft.com/office/drawing/2014/main" id="{485E83F4-E0B6-0009-F577-A5009B54966B}"/>
              </a:ext>
            </a:extLst>
          </p:cNvPr>
          <p:cNvPicPr>
            <a:picLocks noChangeAspect="1"/>
          </p:cNvPicPr>
          <p:nvPr/>
        </p:nvPicPr>
        <p:blipFill>
          <a:blip r:embed="rId4"/>
          <a:stretch>
            <a:fillRect/>
          </a:stretch>
        </p:blipFill>
        <p:spPr>
          <a:xfrm>
            <a:off x="3138464" y="2807861"/>
            <a:ext cx="3572389" cy="1748706"/>
          </a:xfrm>
          <a:prstGeom prst="rect">
            <a:avLst/>
          </a:prstGeom>
        </p:spPr>
      </p:pic>
      <p:sp>
        <p:nvSpPr>
          <p:cNvPr id="6" name="ZoneTexte 5">
            <a:extLst>
              <a:ext uri="{FF2B5EF4-FFF2-40B4-BE49-F238E27FC236}">
                <a16:creationId xmlns:a16="http://schemas.microsoft.com/office/drawing/2014/main" id="{85700A3C-A04D-9973-8FBC-8DFACBE3EB9E}"/>
              </a:ext>
            </a:extLst>
          </p:cNvPr>
          <p:cNvSpPr txBox="1"/>
          <p:nvPr/>
        </p:nvSpPr>
        <p:spPr>
          <a:xfrm>
            <a:off x="166862" y="4647745"/>
            <a:ext cx="3937926" cy="577081"/>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dirty="0"/>
              <a:t>50 % des prix se situent entre 14,5 € et 42 €.</a:t>
            </a:r>
          </a:p>
          <a:p>
            <a:pPr marL="285750" indent="-285750">
              <a:buClr>
                <a:srgbClr val="C00000"/>
              </a:buClr>
              <a:buFont typeface="Wingdings" panose="05000000000000000000" pitchFamily="2" charset="2"/>
              <a:buChar char="Ø"/>
            </a:pPr>
            <a:r>
              <a:rPr lang="fr-FR" sz="1050" dirty="0"/>
              <a:t>Les </a:t>
            </a:r>
            <a:r>
              <a:rPr lang="fr-FR" sz="1050" dirty="0" err="1"/>
              <a:t>outlier</a:t>
            </a:r>
            <a:r>
              <a:rPr lang="fr-FR" sz="1050" dirty="0"/>
              <a:t> sont supérieurs à 83,92 euros (Q3+(1,5 x IQR)</a:t>
            </a:r>
          </a:p>
          <a:p>
            <a:pPr>
              <a:buClr>
                <a:srgbClr val="C00000"/>
              </a:buClr>
            </a:pPr>
            <a:endParaRPr lang="fr-FR" sz="1050" dirty="0"/>
          </a:p>
        </p:txBody>
      </p:sp>
      <p:sp>
        <p:nvSpPr>
          <p:cNvPr id="7" name="ZoneTexte 6">
            <a:extLst>
              <a:ext uri="{FF2B5EF4-FFF2-40B4-BE49-F238E27FC236}">
                <a16:creationId xmlns:a16="http://schemas.microsoft.com/office/drawing/2014/main" id="{682C8682-8E27-1D38-5943-B72074E2AE02}"/>
              </a:ext>
            </a:extLst>
          </p:cNvPr>
          <p:cNvSpPr txBox="1"/>
          <p:nvPr/>
        </p:nvSpPr>
        <p:spPr>
          <a:xfrm>
            <a:off x="223978" y="1791726"/>
            <a:ext cx="2776227" cy="776110"/>
          </a:xfrm>
          <a:prstGeom prst="rect">
            <a:avLst/>
          </a:prstGeom>
          <a:noFill/>
        </p:spPr>
        <p:txBody>
          <a:bodyPr wrap="square">
            <a:spAutoFit/>
          </a:bodyPr>
          <a:lstStyle/>
          <a:p>
            <a:pPr marR="0" lvl="0" algn="l" defTabSz="914400" rtl="0" eaLnBrk="1" fontAlgn="auto" latinLnBrk="0" hangingPunct="1">
              <a:lnSpc>
                <a:spcPct val="107000"/>
              </a:lnSpc>
              <a:spcBef>
                <a:spcPts val="0"/>
              </a:spcBef>
              <a:spcAft>
                <a:spcPts val="800"/>
              </a:spcAft>
              <a:buClr>
                <a:srgbClr val="595959"/>
              </a:buClr>
              <a:buSzPts val="1000"/>
              <a:tabLst>
                <a:tab pos="457200" algn="l"/>
              </a:tabLst>
              <a:defRPr/>
            </a:pPr>
            <a:r>
              <a:rPr kumimoji="0" lang="fr-FR" sz="1050" b="1"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Graphique </a:t>
            </a:r>
            <a:r>
              <a:rPr kumimoji="0" lang="fr-FR" sz="1050" b="1" i="0" u="none" strike="noStrike" kern="100" cap="none" spc="0" normalizeH="0" baseline="0" noProof="0" dirty="0" err="1">
                <a:ln>
                  <a:noFill/>
                </a:ln>
                <a:solidFill>
                  <a:srgbClr val="000000"/>
                </a:solidFill>
                <a:effectLst/>
                <a:uLnTx/>
                <a:uFillTx/>
                <a:latin typeface="+mn-lt"/>
                <a:ea typeface="Calibri" panose="020F0502020204030204" pitchFamily="34" charset="0"/>
                <a:cs typeface="Times New Roman" panose="02020603050405020304" pitchFamily="18" charset="0"/>
                <a:sym typeface="Arial"/>
              </a:rPr>
              <a:t>Matplotlib</a:t>
            </a:r>
            <a:r>
              <a:rPr kumimoji="0" lang="fr-FR" sz="1050" b="1"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 :</a:t>
            </a:r>
            <a:r>
              <a:rPr kumimoji="0" lang="fr-FR" sz="1050" b="0"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 Ce graphique met en évidence la dispersion des prix avec des valeurs aberrantes bien visibles au-dessus des moustaches supérieures.</a:t>
            </a:r>
          </a:p>
        </p:txBody>
      </p:sp>
      <p:sp>
        <p:nvSpPr>
          <p:cNvPr id="8" name="ZoneTexte 7">
            <a:extLst>
              <a:ext uri="{FF2B5EF4-FFF2-40B4-BE49-F238E27FC236}">
                <a16:creationId xmlns:a16="http://schemas.microsoft.com/office/drawing/2014/main" id="{1C0DDCCD-9847-CA22-54CC-B1F1704F666A}"/>
              </a:ext>
            </a:extLst>
          </p:cNvPr>
          <p:cNvSpPr txBox="1"/>
          <p:nvPr/>
        </p:nvSpPr>
        <p:spPr>
          <a:xfrm>
            <a:off x="3247365" y="1744603"/>
            <a:ext cx="2776227" cy="1005660"/>
          </a:xfrm>
          <a:prstGeom prst="rect">
            <a:avLst/>
          </a:prstGeom>
          <a:noFill/>
        </p:spPr>
        <p:txBody>
          <a:bodyPr wrap="square">
            <a:spAutoFit/>
          </a:bodyPr>
          <a:lstStyle/>
          <a:p>
            <a:pPr marL="114300" marR="0" lvl="0" indent="0" algn="l" defTabSz="914400" rtl="0" eaLnBrk="1" fontAlgn="auto" latinLnBrk="0" hangingPunct="1">
              <a:lnSpc>
                <a:spcPct val="115000"/>
              </a:lnSpc>
              <a:spcBef>
                <a:spcPts val="0"/>
              </a:spcBef>
              <a:spcAft>
                <a:spcPts val="0"/>
              </a:spcAft>
              <a:buClr>
                <a:srgbClr val="999999"/>
              </a:buClr>
              <a:buSzPts val="1800"/>
              <a:buFont typeface="Arial"/>
              <a:buNone/>
              <a:tabLst/>
              <a:defRPr/>
            </a:pPr>
            <a:r>
              <a:rPr kumimoji="0" lang="fr-FR" sz="1050" b="1"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Graphique </a:t>
            </a:r>
            <a:r>
              <a:rPr kumimoji="0" lang="fr-FR" sz="1050" b="1" i="0" u="none" strike="noStrike" kern="100" cap="none" spc="0" normalizeH="0" baseline="0" noProof="0" dirty="0" err="1">
                <a:ln>
                  <a:noFill/>
                </a:ln>
                <a:solidFill>
                  <a:srgbClr val="000000"/>
                </a:solidFill>
                <a:effectLst/>
                <a:uLnTx/>
                <a:uFillTx/>
                <a:latin typeface="+mn-lt"/>
                <a:ea typeface="Calibri" panose="020F0502020204030204" pitchFamily="34" charset="0"/>
                <a:cs typeface="Times New Roman" panose="02020603050405020304" pitchFamily="18" charset="0"/>
                <a:sym typeface="Arial"/>
              </a:rPr>
              <a:t>Plotly</a:t>
            </a:r>
            <a:r>
              <a:rPr kumimoji="0" lang="fr-FR" sz="1050" b="1"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 Express :</a:t>
            </a:r>
            <a:r>
              <a:rPr kumimoji="0" lang="fr-FR" sz="1050" b="0"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 La visualisation interactive permet d'explorer les données de manière dynamique, offrant une meilleure compréhension des </a:t>
            </a:r>
            <a:r>
              <a:rPr kumimoji="0" lang="fr-FR" sz="1050" b="0" i="0" u="none" strike="noStrike" kern="100" cap="none" spc="0" normalizeH="0" baseline="0" noProof="0" dirty="0" err="1">
                <a:ln>
                  <a:noFill/>
                </a:ln>
                <a:solidFill>
                  <a:srgbClr val="000000"/>
                </a:solidFill>
                <a:effectLst/>
                <a:uLnTx/>
                <a:uFillTx/>
                <a:latin typeface="+mn-lt"/>
                <a:ea typeface="Calibri" panose="020F0502020204030204" pitchFamily="34" charset="0"/>
                <a:cs typeface="Times New Roman" panose="02020603050405020304" pitchFamily="18" charset="0"/>
                <a:sym typeface="Arial"/>
              </a:rPr>
              <a:t>outliers</a:t>
            </a:r>
            <a:r>
              <a:rPr kumimoji="0" lang="fr-FR" sz="1050" b="0" i="0" u="none" strike="noStrike" kern="100" cap="none" spc="0" normalizeH="0" baseline="0" noProof="0" dirty="0">
                <a:ln>
                  <a:noFill/>
                </a:ln>
                <a:solidFill>
                  <a:srgbClr val="000000"/>
                </a:solidFill>
                <a:effectLst/>
                <a:uLnTx/>
                <a:uFillTx/>
                <a:latin typeface="+mn-lt"/>
                <a:ea typeface="Calibri" panose="020F0502020204030204" pitchFamily="34" charset="0"/>
                <a:cs typeface="Times New Roman" panose="02020603050405020304" pitchFamily="18" charset="0"/>
                <a:sym typeface="Arial"/>
              </a:rPr>
              <a:t>.</a:t>
            </a:r>
          </a:p>
        </p:txBody>
      </p:sp>
      <p:pic>
        <p:nvPicPr>
          <p:cNvPr id="9" name="Image 8">
            <a:extLst>
              <a:ext uri="{FF2B5EF4-FFF2-40B4-BE49-F238E27FC236}">
                <a16:creationId xmlns:a16="http://schemas.microsoft.com/office/drawing/2014/main" id="{79BA0BD1-E7E8-39D1-F41C-89839B774E01}"/>
              </a:ext>
            </a:extLst>
          </p:cNvPr>
          <p:cNvPicPr>
            <a:picLocks noChangeAspect="1"/>
          </p:cNvPicPr>
          <p:nvPr/>
        </p:nvPicPr>
        <p:blipFill>
          <a:blip r:embed="rId5"/>
          <a:stretch>
            <a:fillRect/>
          </a:stretch>
        </p:blipFill>
        <p:spPr>
          <a:xfrm>
            <a:off x="6648794" y="3113864"/>
            <a:ext cx="2280879" cy="1136700"/>
          </a:xfrm>
          <a:prstGeom prst="rect">
            <a:avLst/>
          </a:prstGeom>
        </p:spPr>
      </p:pic>
      <p:sp>
        <p:nvSpPr>
          <p:cNvPr id="11" name="ZoneTexte 10">
            <a:extLst>
              <a:ext uri="{FF2B5EF4-FFF2-40B4-BE49-F238E27FC236}">
                <a16:creationId xmlns:a16="http://schemas.microsoft.com/office/drawing/2014/main" id="{E1DCA011-AB6B-5AB6-3D12-F13748A8125B}"/>
              </a:ext>
            </a:extLst>
          </p:cNvPr>
          <p:cNvSpPr txBox="1"/>
          <p:nvPr/>
        </p:nvSpPr>
        <p:spPr>
          <a:xfrm>
            <a:off x="6575260" y="2750263"/>
            <a:ext cx="4708826" cy="253916"/>
          </a:xfrm>
          <a:prstGeom prst="rect">
            <a:avLst/>
          </a:prstGeom>
          <a:noFill/>
        </p:spPr>
        <p:txBody>
          <a:bodyPr wrap="square">
            <a:spAutoFit/>
          </a:bodyPr>
          <a:lstStyle/>
          <a:p>
            <a:pPr algn="l"/>
            <a:r>
              <a:rPr lang="en-GB" sz="1050" b="1" i="0" dirty="0">
                <a:solidFill>
                  <a:schemeClr val="tx1"/>
                </a:solidFill>
                <a:effectLst/>
                <a:latin typeface="+mj-lt"/>
              </a:rPr>
              <a:t>Identification par interval interquartile</a:t>
            </a:r>
          </a:p>
        </p:txBody>
      </p:sp>
    </p:spTree>
    <p:extLst>
      <p:ext uri="{BB962C8B-B14F-4D97-AF65-F5344CB8AC3E}">
        <p14:creationId xmlns:p14="http://schemas.microsoft.com/office/powerpoint/2010/main" val="3907051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323672" y="1001128"/>
            <a:ext cx="8723309" cy="3744408"/>
          </a:xfrm>
          <a:prstGeom prst="rect">
            <a:avLst/>
          </a:prstGeom>
          <a:noFill/>
          <a:ln>
            <a:noFill/>
          </a:ln>
        </p:spPr>
        <p:txBody>
          <a:bodyPr spcFirstLastPara="1" wrap="square" lIns="91425" tIns="91425" rIns="91425" bIns="91425" anchor="t" anchorCtr="0">
            <a:normAutofit/>
          </a:bodyPr>
          <a:lstStyle/>
          <a:p>
            <a:pPr marL="114300" marR="0" lvl="0" indent="0" algn="l" rtl="0">
              <a:lnSpc>
                <a:spcPct val="115000"/>
              </a:lnSpc>
              <a:spcBef>
                <a:spcPts val="0"/>
              </a:spcBef>
              <a:spcAft>
                <a:spcPts val="0"/>
              </a:spcAft>
              <a:buClr>
                <a:srgbClr val="999999"/>
              </a:buClr>
              <a:buSzPts val="1800"/>
              <a:buNone/>
            </a:pPr>
            <a:r>
              <a:rPr lang="fr-FR" sz="1050" b="1" noProof="0" dirty="0">
                <a:solidFill>
                  <a:schemeClr val="tx1"/>
                </a:solidFill>
                <a:latin typeface="+mn-lt"/>
                <a:ea typeface="Montserrat"/>
                <a:cs typeface="Montserrat"/>
                <a:sym typeface="Montserrat"/>
              </a:rPr>
              <a:t>Méthodes statistiques employés</a:t>
            </a:r>
            <a:r>
              <a:rPr lang="fr-FR" sz="1050" b="1" dirty="0">
                <a:solidFill>
                  <a:schemeClr val="tx1"/>
                </a:solidFill>
                <a:latin typeface="+mn-lt"/>
                <a:ea typeface="Montserrat"/>
                <a:cs typeface="Montserrat"/>
                <a:sym typeface="Montserrat"/>
              </a:rPr>
              <a:t>:</a:t>
            </a:r>
          </a:p>
          <a:p>
            <a:pPr marL="114300" marR="0" lvl="0" indent="0" algn="l" rtl="0">
              <a:lnSpc>
                <a:spcPct val="115000"/>
              </a:lnSpc>
              <a:spcBef>
                <a:spcPts val="0"/>
              </a:spcBef>
              <a:spcAft>
                <a:spcPts val="0"/>
              </a:spcAft>
              <a:buClr>
                <a:srgbClr val="999999"/>
              </a:buClr>
              <a:buSzPts val="1800"/>
              <a:buNone/>
            </a:pPr>
            <a:endParaRPr lang="fr-FR" sz="1050" b="1" dirty="0">
              <a:solidFill>
                <a:schemeClr val="tx1"/>
              </a:solidFill>
              <a:latin typeface="+mn-lt"/>
              <a:ea typeface="Montserrat"/>
              <a:cs typeface="Montserrat"/>
              <a:sym typeface="Montserrat"/>
            </a:endParaRPr>
          </a:p>
          <a:p>
            <a:pPr marL="114300" indent="0">
              <a:buClr>
                <a:srgbClr val="999999"/>
              </a:buClr>
              <a:buNone/>
            </a:pPr>
            <a:r>
              <a:rPr lang="fr-FR" sz="1050" b="1" i="0" dirty="0">
                <a:solidFill>
                  <a:schemeClr val="tx1"/>
                </a:solidFill>
                <a:effectLst/>
                <a:latin typeface="system-ui"/>
              </a:rPr>
              <a:t>Identification par le Z-index:</a:t>
            </a:r>
          </a:p>
          <a:p>
            <a:pPr marL="114300" marR="0" lvl="0" indent="0" algn="l" rtl="0">
              <a:lnSpc>
                <a:spcPct val="115000"/>
              </a:lnSpc>
              <a:spcBef>
                <a:spcPts val="0"/>
              </a:spcBef>
              <a:spcAft>
                <a:spcPts val="0"/>
              </a:spcAft>
              <a:buClr>
                <a:srgbClr val="999999"/>
              </a:buClr>
              <a:buSzPts val="1800"/>
              <a:buNone/>
            </a:pPr>
            <a:endParaRPr lang="fr-FR" sz="1050" b="1" noProof="0" dirty="0">
              <a:solidFill>
                <a:schemeClr val="tx1"/>
              </a:solidFill>
              <a:latin typeface="+mn-lt"/>
              <a:ea typeface="Montserrat"/>
              <a:cs typeface="Montserrat"/>
              <a:sym typeface="Montserrat"/>
            </a:endParaRPr>
          </a:p>
          <a:p>
            <a:pPr marL="342900" marR="0" lvl="0" indent="-342900" algn="l" defTabSz="914400" rtl="0" eaLnBrk="1" fontAlgn="auto" latinLnBrk="0" hangingPunct="1">
              <a:lnSpc>
                <a:spcPct val="107000"/>
              </a:lnSpc>
              <a:spcBef>
                <a:spcPts val="0"/>
              </a:spcBef>
              <a:spcAft>
                <a:spcPts val="800"/>
              </a:spcAft>
              <a:buClr>
                <a:srgbClr val="595959"/>
              </a:buClr>
              <a:buSzPts val="1000"/>
              <a:buFont typeface="Symbol" panose="05050102010706020507" pitchFamily="18" charset="2"/>
              <a:buChar char=""/>
              <a:tabLst>
                <a:tab pos="457200" algn="l"/>
              </a:tabLst>
              <a:defRPr/>
            </a:pPr>
            <a:r>
              <a:rPr kumimoji="0" lang="fr-FR" sz="1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Calcul de la moyenne et de l'écart-type :</a:t>
            </a:r>
            <a:r>
              <a:rPr kumimoji="0" lang="fr-FR" sz="1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 On calcule d’abord la moyenne (</a:t>
            </a:r>
            <a:r>
              <a:rPr kumimoji="0" lang="fr-FR" sz="1000" b="0" i="0" u="none" strike="noStrike" kern="1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mean_price</a:t>
            </a:r>
            <a:r>
              <a:rPr kumimoji="0" lang="fr-FR" sz="1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 et l'écart-type (</a:t>
            </a:r>
            <a:r>
              <a:rPr kumimoji="0" lang="fr-FR" sz="1000" b="0" i="0" u="none" strike="noStrike" kern="1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std_price</a:t>
            </a:r>
            <a:r>
              <a:rPr kumimoji="0" lang="fr-FR" sz="1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 des prix.</a:t>
            </a:r>
          </a:p>
          <a:p>
            <a:pPr marL="0" marR="0" lvl="0" indent="0" algn="l" defTabSz="914400" rtl="0" eaLnBrk="1" fontAlgn="auto" latinLnBrk="0" hangingPunct="1">
              <a:lnSpc>
                <a:spcPct val="107000"/>
              </a:lnSpc>
              <a:spcBef>
                <a:spcPts val="0"/>
              </a:spcBef>
              <a:spcAft>
                <a:spcPts val="800"/>
              </a:spcAft>
              <a:buClr>
                <a:srgbClr val="595959"/>
              </a:buClr>
              <a:buSzPts val="1000"/>
              <a:buNone/>
              <a:tabLst>
                <a:tab pos="457200" algn="l"/>
              </a:tabLst>
              <a:defRPr/>
            </a:pPr>
            <a:endParaRPr kumimoji="0" lang="fr-FR" sz="1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a:p>
            <a:pPr marL="342900" marR="0" lvl="0" indent="-342900" algn="l" defTabSz="914400" rtl="0" eaLnBrk="1" fontAlgn="auto" latinLnBrk="0" hangingPunct="1">
              <a:lnSpc>
                <a:spcPct val="107000"/>
              </a:lnSpc>
              <a:spcBef>
                <a:spcPts val="0"/>
              </a:spcBef>
              <a:spcAft>
                <a:spcPts val="800"/>
              </a:spcAft>
              <a:buClr>
                <a:srgbClr val="595959"/>
              </a:buClr>
              <a:buSzPts val="1000"/>
              <a:buFont typeface="Symbol" panose="05050102010706020507" pitchFamily="18" charset="2"/>
              <a:buChar char=""/>
              <a:tabLst>
                <a:tab pos="457200" algn="l"/>
              </a:tabLst>
              <a:defRPr/>
            </a:pPr>
            <a:r>
              <a:rPr kumimoji="0" lang="fr-FR" sz="1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Calcul du Z-score :</a:t>
            </a:r>
            <a:r>
              <a:rPr kumimoji="0" lang="fr-FR" sz="1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Pr>
              <a:t> Chaque prix a été standardisé en utilisant le Z-score pour identifier les valeurs aberrantes. Le Z-score mesure combien d'écarts-types un prix est éloigné de la moyenne.</a:t>
            </a:r>
          </a:p>
          <a:p>
            <a:pPr marL="114300" marR="0" lvl="0" indent="0" algn="l" rtl="0">
              <a:lnSpc>
                <a:spcPct val="115000"/>
              </a:lnSpc>
              <a:spcBef>
                <a:spcPts val="0"/>
              </a:spcBef>
              <a:spcAft>
                <a:spcPts val="0"/>
              </a:spcAft>
              <a:buClr>
                <a:srgbClr val="999999"/>
              </a:buClr>
              <a:buSzPts val="1800"/>
              <a:buNone/>
            </a:pPr>
            <a:endParaRPr lang="fr-FR" i="1" noProof="0" dirty="0">
              <a:solidFill>
                <a:schemeClr val="tx1"/>
              </a:solidFill>
              <a:latin typeface="Montserrat"/>
              <a:ea typeface="Montserrat"/>
              <a:cs typeface="Montserrat"/>
              <a:sym typeface="Montserrat"/>
            </a:endParaRPr>
          </a:p>
        </p:txBody>
      </p:sp>
      <p:sp>
        <p:nvSpPr>
          <p:cNvPr id="80" name="Google Shape;80;p6"/>
          <p:cNvSpPr/>
          <p:nvPr/>
        </p:nvSpPr>
        <p:spPr>
          <a:xfrm>
            <a:off x="0" y="0"/>
            <a:ext cx="9144000" cy="99335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univariées du prix</a:t>
            </a:r>
          </a:p>
        </p:txBody>
      </p:sp>
      <p:sp>
        <p:nvSpPr>
          <p:cNvPr id="82" name="Google Shape;82;p6"/>
          <p:cNvSpPr/>
          <p:nvPr/>
        </p:nvSpPr>
        <p:spPr>
          <a:xfrm>
            <a:off x="998826" y="786431"/>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6" name="ZoneTexte 5">
            <a:extLst>
              <a:ext uri="{FF2B5EF4-FFF2-40B4-BE49-F238E27FC236}">
                <a16:creationId xmlns:a16="http://schemas.microsoft.com/office/drawing/2014/main" id="{2FAF8F39-39E0-A72A-B684-52A541B12C47}"/>
              </a:ext>
            </a:extLst>
          </p:cNvPr>
          <p:cNvSpPr txBox="1"/>
          <p:nvPr/>
        </p:nvSpPr>
        <p:spPr>
          <a:xfrm>
            <a:off x="4236162" y="3565574"/>
            <a:ext cx="4810819" cy="1546577"/>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dirty="0"/>
              <a:t>Le z-score = 116,4 euros</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latin typeface="+mn-lt"/>
              </a:rPr>
              <a:t>cela peut indiquer une valeur aberrante dans les données, car la majorité des données se trouvent généralement dans l'intervalle [−3σ, +3σ].</a:t>
            </a:r>
          </a:p>
          <a:p>
            <a:pPr marL="285750" indent="-285750">
              <a:buClr>
                <a:srgbClr val="C00000"/>
              </a:buClr>
              <a:buFont typeface="Wingdings" panose="05000000000000000000" pitchFamily="2" charset="2"/>
              <a:buChar char="Ø"/>
            </a:pPr>
            <a:endParaRPr lang="fr-FR" sz="1050" dirty="0">
              <a:latin typeface="+mn-lt"/>
            </a:endParaRPr>
          </a:p>
          <a:p>
            <a:pPr marL="285750" indent="-285750">
              <a:buClr>
                <a:srgbClr val="C00000"/>
              </a:buClr>
              <a:buFont typeface="Wingdings" panose="05000000000000000000" pitchFamily="2" charset="2"/>
              <a:buChar char="Ø"/>
            </a:pPr>
            <a:r>
              <a:rPr lang="fr-FR" sz="1050" kern="100" noProof="0" dirty="0">
                <a:solidFill>
                  <a:schemeClr val="tx1"/>
                </a:solidFill>
                <a:effectLst/>
                <a:latin typeface="+mn-lt"/>
                <a:ea typeface="Calibri" panose="020F0502020204030204" pitchFamily="34" charset="0"/>
                <a:cs typeface="Times New Roman" panose="02020603050405020304" pitchFamily="18" charset="0"/>
              </a:rPr>
              <a:t>Le Z-score mesure combien d'écarts-types un prix est éloigné de la moyenne.</a:t>
            </a:r>
          </a:p>
          <a:p>
            <a:pPr>
              <a:buClr>
                <a:srgbClr val="C00000"/>
              </a:buClr>
            </a:pPr>
            <a:endParaRPr lang="fr-FR" sz="1050" dirty="0">
              <a:latin typeface="+mn-lt"/>
            </a:endParaRPr>
          </a:p>
          <a:p>
            <a:pPr>
              <a:buClr>
                <a:srgbClr val="C00000"/>
              </a:buClr>
            </a:pPr>
            <a:endParaRPr lang="fr-FR" sz="1050" dirty="0"/>
          </a:p>
        </p:txBody>
      </p:sp>
      <p:pic>
        <p:nvPicPr>
          <p:cNvPr id="12" name="Image 11">
            <a:extLst>
              <a:ext uri="{FF2B5EF4-FFF2-40B4-BE49-F238E27FC236}">
                <a16:creationId xmlns:a16="http://schemas.microsoft.com/office/drawing/2014/main" id="{665F38F0-C14C-7D9B-A1CC-8AF66EAEA0B8}"/>
              </a:ext>
            </a:extLst>
          </p:cNvPr>
          <p:cNvPicPr>
            <a:picLocks noChangeAspect="1"/>
          </p:cNvPicPr>
          <p:nvPr/>
        </p:nvPicPr>
        <p:blipFill>
          <a:blip r:embed="rId3"/>
          <a:stretch>
            <a:fillRect/>
          </a:stretch>
        </p:blipFill>
        <p:spPr>
          <a:xfrm>
            <a:off x="566532" y="2712567"/>
            <a:ext cx="3461553" cy="2085163"/>
          </a:xfrm>
          <a:prstGeom prst="rect">
            <a:avLst/>
          </a:prstGeom>
        </p:spPr>
      </p:pic>
      <p:pic>
        <p:nvPicPr>
          <p:cNvPr id="14" name="Image 13">
            <a:extLst>
              <a:ext uri="{FF2B5EF4-FFF2-40B4-BE49-F238E27FC236}">
                <a16:creationId xmlns:a16="http://schemas.microsoft.com/office/drawing/2014/main" id="{51B445CC-85C7-D350-8267-9D509AACEDAB}"/>
              </a:ext>
            </a:extLst>
          </p:cNvPr>
          <p:cNvPicPr>
            <a:picLocks noChangeAspect="1"/>
          </p:cNvPicPr>
          <p:nvPr/>
        </p:nvPicPr>
        <p:blipFill>
          <a:blip r:embed="rId4"/>
          <a:stretch>
            <a:fillRect/>
          </a:stretch>
        </p:blipFill>
        <p:spPr>
          <a:xfrm>
            <a:off x="4379902" y="2707978"/>
            <a:ext cx="4197566" cy="577880"/>
          </a:xfrm>
          <a:prstGeom prst="rect">
            <a:avLst/>
          </a:prstGeom>
        </p:spPr>
      </p:pic>
      <p:pic>
        <p:nvPicPr>
          <p:cNvPr id="3" name="Image 2">
            <a:extLst>
              <a:ext uri="{FF2B5EF4-FFF2-40B4-BE49-F238E27FC236}">
                <a16:creationId xmlns:a16="http://schemas.microsoft.com/office/drawing/2014/main" id="{2B828476-730D-27F2-FDEA-E116CE7A8A61}"/>
              </a:ext>
            </a:extLst>
          </p:cNvPr>
          <p:cNvPicPr>
            <a:picLocks noChangeAspect="1"/>
          </p:cNvPicPr>
          <p:nvPr/>
        </p:nvPicPr>
        <p:blipFill>
          <a:blip r:embed="rId5"/>
          <a:stretch>
            <a:fillRect/>
          </a:stretch>
        </p:blipFill>
        <p:spPr>
          <a:xfrm>
            <a:off x="696300" y="1975339"/>
            <a:ext cx="2525113" cy="3706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87AD0A3C-3250-ECA6-00B4-2057C1F86BE6}"/>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22A4102F-B31D-E9ED-A545-DC2041E40449}"/>
              </a:ext>
            </a:extLst>
          </p:cNvPr>
          <p:cNvSpPr txBox="1">
            <a:spLocks noGrp="1"/>
          </p:cNvSpPr>
          <p:nvPr>
            <p:ph type="body" idx="1"/>
          </p:nvPr>
        </p:nvSpPr>
        <p:spPr>
          <a:xfrm>
            <a:off x="310789" y="1043750"/>
            <a:ext cx="6709500" cy="3416400"/>
          </a:xfrm>
          <a:prstGeom prst="rect">
            <a:avLst/>
          </a:prstGeom>
          <a:noFill/>
          <a:ln>
            <a:noFill/>
          </a:ln>
        </p:spPr>
        <p:txBody>
          <a:bodyPr spcFirstLastPara="1" wrap="square" lIns="91425" tIns="91425" rIns="91425" bIns="91425" anchor="t" anchorCtr="0">
            <a:normAutofit/>
          </a:bodyPr>
          <a:lstStyle/>
          <a:p>
            <a:pPr marL="114300" marR="0" lvl="0" indent="0" algn="l" rtl="0">
              <a:lnSpc>
                <a:spcPct val="115000"/>
              </a:lnSpc>
              <a:spcBef>
                <a:spcPts val="0"/>
              </a:spcBef>
              <a:spcAft>
                <a:spcPts val="0"/>
              </a:spcAft>
              <a:buClr>
                <a:srgbClr val="999999"/>
              </a:buClr>
              <a:buSzPts val="1800"/>
              <a:buNone/>
            </a:pPr>
            <a:endParaRPr lang="fr-FR" i="1" noProof="0"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FR" sz="1000" i="1" noProof="0" dirty="0">
                <a:solidFill>
                  <a:schemeClr val="tx1"/>
                </a:solidFill>
                <a:latin typeface="Montserrat"/>
                <a:ea typeface="Montserrat"/>
                <a:cs typeface="Montserrat"/>
                <a:sym typeface="Montserrat"/>
              </a:rPr>
              <a:t>Limites éventuelles de l’analyse </a:t>
            </a:r>
          </a:p>
          <a:p>
            <a:pPr marL="114300" marR="0" lvl="0" indent="0" algn="l" rtl="0">
              <a:lnSpc>
                <a:spcPct val="115000"/>
              </a:lnSpc>
              <a:spcBef>
                <a:spcPts val="0"/>
              </a:spcBef>
              <a:spcAft>
                <a:spcPts val="0"/>
              </a:spcAft>
              <a:buClr>
                <a:srgbClr val="999999"/>
              </a:buClr>
              <a:buSzPts val="1800"/>
              <a:buNone/>
            </a:pPr>
            <a:endParaRPr lang="fr-FR" sz="1000" i="1" noProof="0" dirty="0">
              <a:solidFill>
                <a:schemeClr val="tx1"/>
              </a:solidFill>
              <a:latin typeface="Montserrat"/>
              <a:ea typeface="Montserrat"/>
              <a:cs typeface="Montserrat"/>
              <a:sym typeface="Montserrat"/>
            </a:endParaRPr>
          </a:p>
          <a:p>
            <a:pPr marL="0" lvl="0" indent="0">
              <a:lnSpc>
                <a:spcPct val="107000"/>
              </a:lnSpc>
              <a:spcAft>
                <a:spcPts val="800"/>
              </a:spcAft>
              <a:buNone/>
              <a:tabLst>
                <a:tab pos="457200" algn="l"/>
              </a:tabLst>
            </a:pPr>
            <a:r>
              <a:rPr lang="fr-FR" sz="1000" b="1"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Pertinence des </a:t>
            </a:r>
            <a:r>
              <a:rPr lang="fr-FR" sz="1000" b="1" kern="100" noProof="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Outliers</a:t>
            </a:r>
            <a:r>
              <a:rPr lang="fr-FR" sz="1000" b="1"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p>
          <a:p>
            <a:pPr marL="457200" lvl="1" indent="0">
              <a:lnSpc>
                <a:spcPct val="107000"/>
              </a:lnSpc>
              <a:spcAft>
                <a:spcPts val="800"/>
              </a:spcAft>
              <a:buSzPts val="1000"/>
              <a:buNone/>
              <a:tabLst>
                <a:tab pos="914400" algn="l"/>
              </a:tabLst>
            </a:pP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Les prix considérés comme </a:t>
            </a:r>
            <a:r>
              <a:rPr lang="fr-FR" sz="1000" kern="100" noProof="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outliers</a:t>
            </a: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peuvent être justifiés par des caractéristiques exceptionnelles des produits comme leur rareté ou leur qualité supérieure. Une analyse approfondie des caractéristiques de ces produits est nécessaire pour confirmer cela.</a:t>
            </a:r>
          </a:p>
          <a:p>
            <a:pPr marL="0" lvl="0" indent="0">
              <a:lnSpc>
                <a:spcPct val="107000"/>
              </a:lnSpc>
              <a:spcAft>
                <a:spcPts val="800"/>
              </a:spcAft>
              <a:buNone/>
              <a:tabLst>
                <a:tab pos="457200" algn="l"/>
              </a:tabLst>
            </a:pPr>
            <a:r>
              <a:rPr lang="fr-FR" sz="1000" b="1"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Distribution des Prix :</a:t>
            </a:r>
          </a:p>
          <a:p>
            <a:pPr marL="457200" lvl="1" indent="0">
              <a:lnSpc>
                <a:spcPct val="107000"/>
              </a:lnSpc>
              <a:spcAft>
                <a:spcPts val="800"/>
              </a:spcAft>
              <a:buSzPts val="1000"/>
              <a:buNone/>
              <a:tabLst>
                <a:tab pos="914400" algn="l"/>
              </a:tabLst>
            </a:pP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 présence de prix très bas (près de 0) pourrait affecter la distribution et la détection des </a:t>
            </a:r>
            <a:r>
              <a:rPr lang="fr-FR" sz="1000" kern="100" noProof="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outliers</a:t>
            </a: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Il est important de s'assurer que ces prix ne sont pas dus à des erreurs de saisie ou à des promotions temporaires.</a:t>
            </a:r>
          </a:p>
          <a:p>
            <a:pPr marL="0" lvl="0" indent="0">
              <a:lnSpc>
                <a:spcPct val="107000"/>
              </a:lnSpc>
              <a:spcAft>
                <a:spcPts val="800"/>
              </a:spcAft>
              <a:buNone/>
              <a:tabLst>
                <a:tab pos="457200" algn="l"/>
              </a:tabLst>
            </a:pPr>
            <a:r>
              <a:rPr lang="fr-FR" sz="1000" b="1"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Impact des </a:t>
            </a:r>
            <a:r>
              <a:rPr lang="fr-FR" sz="1000" b="1" kern="100" noProof="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Outliers</a:t>
            </a:r>
            <a:r>
              <a:rPr lang="fr-FR" sz="1000" b="1"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457200" lvl="1" indent="0">
              <a:lnSpc>
                <a:spcPct val="107000"/>
              </a:lnSpc>
              <a:spcAft>
                <a:spcPts val="800"/>
              </a:spcAft>
              <a:buSzPts val="1000"/>
              <a:buNone/>
              <a:tabLst>
                <a:tab pos="914400" algn="l"/>
              </a:tabLst>
            </a:pP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Les </a:t>
            </a:r>
            <a:r>
              <a:rPr lang="fr-FR" sz="1000" kern="100" noProof="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outliers</a:t>
            </a:r>
            <a:r>
              <a:rPr lang="fr-FR" sz="1000" kern="100" noProof="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peuvent fausser les analyses statistiques telles que les moyennes et les écarts-types. Une analyse plus approfondie est nécessaire pour comprendre leur impact sur les ventes totales et sur la stratégie de tarification.</a:t>
            </a:r>
          </a:p>
          <a:p>
            <a:pPr marL="114300" marR="0" lvl="0" indent="0" algn="l" rtl="0">
              <a:lnSpc>
                <a:spcPct val="115000"/>
              </a:lnSpc>
              <a:spcBef>
                <a:spcPts val="0"/>
              </a:spcBef>
              <a:spcAft>
                <a:spcPts val="0"/>
              </a:spcAft>
              <a:buClr>
                <a:srgbClr val="999999"/>
              </a:buClr>
              <a:buSzPts val="1800"/>
              <a:buNone/>
            </a:pPr>
            <a:endParaRPr lang="fr-FR" i="1" noProof="0" dirty="0">
              <a:solidFill>
                <a:srgbClr val="999999"/>
              </a:solidFill>
              <a:latin typeface="Montserrat"/>
              <a:ea typeface="Montserrat"/>
              <a:cs typeface="Montserrat"/>
              <a:sym typeface="Montserrat"/>
            </a:endParaRPr>
          </a:p>
        </p:txBody>
      </p:sp>
      <p:sp>
        <p:nvSpPr>
          <p:cNvPr id="80" name="Google Shape;80;p6">
            <a:extLst>
              <a:ext uri="{FF2B5EF4-FFF2-40B4-BE49-F238E27FC236}">
                <a16:creationId xmlns:a16="http://schemas.microsoft.com/office/drawing/2014/main" id="{99FAB351-289C-8D51-EA0D-537E2CFA0DA8}"/>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915CABD6-DDB3-8974-3D21-4C2675E8FD90}"/>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univariées du prix</a:t>
            </a:r>
          </a:p>
        </p:txBody>
      </p:sp>
      <p:sp>
        <p:nvSpPr>
          <p:cNvPr id="82" name="Google Shape;82;p6">
            <a:extLst>
              <a:ext uri="{FF2B5EF4-FFF2-40B4-BE49-F238E27FC236}">
                <a16:creationId xmlns:a16="http://schemas.microsoft.com/office/drawing/2014/main" id="{39991530-094D-D86F-87F5-BFC18330EAF0}"/>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16752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a:t>
            </a:r>
            <a:r>
              <a:rPr lang="fr-FR" sz="2500" noProof="0" dirty="0" err="1">
                <a:solidFill>
                  <a:srgbClr val="F3F3F3"/>
                </a:solidFill>
                <a:latin typeface="Montserrat"/>
                <a:sym typeface="Montserrat"/>
              </a:rPr>
              <a:t>correlations</a:t>
            </a:r>
            <a:endParaRPr lang="fr-FR" noProof="0" dirty="0"/>
          </a:p>
        </p:txBody>
      </p:sp>
      <p:sp>
        <p:nvSpPr>
          <p:cNvPr id="89" name="Google Shape;89;p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4" name="ZoneTexte 3">
            <a:extLst>
              <a:ext uri="{FF2B5EF4-FFF2-40B4-BE49-F238E27FC236}">
                <a16:creationId xmlns:a16="http://schemas.microsoft.com/office/drawing/2014/main" id="{1F2C2834-6EBD-B3AE-D906-BFD038290BD9}"/>
              </a:ext>
            </a:extLst>
          </p:cNvPr>
          <p:cNvSpPr txBox="1"/>
          <p:nvPr/>
        </p:nvSpPr>
        <p:spPr>
          <a:xfrm>
            <a:off x="186885" y="1513500"/>
            <a:ext cx="3390622" cy="738664"/>
          </a:xfrm>
          <a:prstGeom prst="rect">
            <a:avLst/>
          </a:prstGeom>
          <a:noFill/>
        </p:spPr>
        <p:txBody>
          <a:bodyPr wrap="square" rtlCol="0">
            <a:spAutoFit/>
          </a:bodyPr>
          <a:lstStyle/>
          <a:p>
            <a:pPr marL="285750" indent="-285750">
              <a:buClr>
                <a:srgbClr val="C00000"/>
              </a:buClr>
              <a:buFont typeface="Wingdings" panose="05000000000000000000" pitchFamily="2" charset="2"/>
              <a:buChar char="Ø"/>
            </a:pPr>
            <a:r>
              <a:rPr lang="fr-FR" sz="1050" dirty="0"/>
              <a:t>Ajout d’une colonne chiffres d’affaires par articles</a:t>
            </a:r>
          </a:p>
          <a:p>
            <a:pPr marL="285750" indent="-285750">
              <a:buClr>
                <a:srgbClr val="C00000"/>
              </a:buClr>
              <a:buFont typeface="Wingdings" panose="05000000000000000000" pitchFamily="2" charset="2"/>
              <a:buChar char="Ø"/>
            </a:pPr>
            <a:endParaRPr lang="fr-FR" sz="1050" dirty="0"/>
          </a:p>
          <a:p>
            <a:pPr marL="285750" indent="-285750">
              <a:buClr>
                <a:srgbClr val="C00000"/>
              </a:buClr>
              <a:buFont typeface="Wingdings" panose="05000000000000000000" pitchFamily="2" charset="2"/>
              <a:buChar char="Ø"/>
            </a:pPr>
            <a:r>
              <a:rPr lang="fr-FR" sz="1050" dirty="0"/>
              <a:t>Calcule du chiffre d'affaires total 152 997,90€</a:t>
            </a:r>
          </a:p>
          <a:p>
            <a:pPr marL="285750" indent="-285750">
              <a:buClr>
                <a:srgbClr val="C00000"/>
              </a:buClr>
              <a:buFont typeface="Wingdings" panose="05000000000000000000" pitchFamily="2" charset="2"/>
              <a:buChar char="Ø"/>
            </a:pPr>
            <a:endParaRPr lang="fr-FR" sz="1050" dirty="0"/>
          </a:p>
        </p:txBody>
      </p:sp>
      <p:sp>
        <p:nvSpPr>
          <p:cNvPr id="2" name="ZoneTexte 1">
            <a:extLst>
              <a:ext uri="{FF2B5EF4-FFF2-40B4-BE49-F238E27FC236}">
                <a16:creationId xmlns:a16="http://schemas.microsoft.com/office/drawing/2014/main" id="{BAA08F4C-EC50-BEF9-EC73-5C640939F6F5}"/>
              </a:ext>
            </a:extLst>
          </p:cNvPr>
          <p:cNvSpPr txBox="1"/>
          <p:nvPr/>
        </p:nvSpPr>
        <p:spPr>
          <a:xfrm>
            <a:off x="325936" y="1259584"/>
            <a:ext cx="3751804" cy="253916"/>
          </a:xfrm>
          <a:prstGeom prst="rect">
            <a:avLst/>
          </a:prstGeom>
          <a:noFill/>
        </p:spPr>
        <p:txBody>
          <a:bodyPr wrap="square" rtlCol="0">
            <a:spAutoFit/>
          </a:bodyPr>
          <a:lstStyle/>
          <a:p>
            <a:pPr>
              <a:buClr>
                <a:srgbClr val="C00000"/>
              </a:buClr>
            </a:pPr>
            <a:r>
              <a:rPr lang="fr-FR" sz="1050" b="1" dirty="0"/>
              <a:t>Analyse des ventes en CA</a:t>
            </a:r>
            <a:r>
              <a:rPr lang="fr-FR" sz="1050" dirty="0"/>
              <a:t>:</a:t>
            </a:r>
          </a:p>
        </p:txBody>
      </p:sp>
      <p:pic>
        <p:nvPicPr>
          <p:cNvPr id="6" name="Image 5">
            <a:extLst>
              <a:ext uri="{FF2B5EF4-FFF2-40B4-BE49-F238E27FC236}">
                <a16:creationId xmlns:a16="http://schemas.microsoft.com/office/drawing/2014/main" id="{707769DF-DE5F-D635-D454-EE46F2EB4ADA}"/>
              </a:ext>
            </a:extLst>
          </p:cNvPr>
          <p:cNvPicPr>
            <a:picLocks noChangeAspect="1"/>
          </p:cNvPicPr>
          <p:nvPr/>
        </p:nvPicPr>
        <p:blipFill>
          <a:blip r:embed="rId3"/>
          <a:stretch>
            <a:fillRect/>
          </a:stretch>
        </p:blipFill>
        <p:spPr>
          <a:xfrm>
            <a:off x="696652" y="2153280"/>
            <a:ext cx="1435371" cy="1512000"/>
          </a:xfrm>
          <a:prstGeom prst="rect">
            <a:avLst/>
          </a:prstGeom>
        </p:spPr>
      </p:pic>
      <p:sp>
        <p:nvSpPr>
          <p:cNvPr id="7" name="ZoneTexte 6">
            <a:extLst>
              <a:ext uri="{FF2B5EF4-FFF2-40B4-BE49-F238E27FC236}">
                <a16:creationId xmlns:a16="http://schemas.microsoft.com/office/drawing/2014/main" id="{F8328A22-31BF-045D-1DC3-4ADBD38285D2}"/>
              </a:ext>
            </a:extLst>
          </p:cNvPr>
          <p:cNvSpPr txBox="1"/>
          <p:nvPr/>
        </p:nvSpPr>
        <p:spPr>
          <a:xfrm>
            <a:off x="4305023" y="1259584"/>
            <a:ext cx="3751804" cy="253916"/>
          </a:xfrm>
          <a:prstGeom prst="rect">
            <a:avLst/>
          </a:prstGeom>
          <a:noFill/>
        </p:spPr>
        <p:txBody>
          <a:bodyPr wrap="square" rtlCol="0">
            <a:spAutoFit/>
          </a:bodyPr>
          <a:lstStyle/>
          <a:p>
            <a:pPr>
              <a:buClr>
                <a:srgbClr val="C00000"/>
              </a:buClr>
            </a:pPr>
            <a:r>
              <a:rPr lang="fr-FR" sz="1050" b="1" dirty="0"/>
              <a:t>Afficher les 20 premiers articles en chiffres d’affaires:</a:t>
            </a:r>
          </a:p>
        </p:txBody>
      </p:sp>
      <p:pic>
        <p:nvPicPr>
          <p:cNvPr id="9" name="Image 8">
            <a:extLst>
              <a:ext uri="{FF2B5EF4-FFF2-40B4-BE49-F238E27FC236}">
                <a16:creationId xmlns:a16="http://schemas.microsoft.com/office/drawing/2014/main" id="{9613CEC4-4D27-877E-6BC7-9512380DC958}"/>
              </a:ext>
            </a:extLst>
          </p:cNvPr>
          <p:cNvPicPr>
            <a:picLocks noChangeAspect="1"/>
          </p:cNvPicPr>
          <p:nvPr/>
        </p:nvPicPr>
        <p:blipFill>
          <a:blip r:embed="rId4"/>
          <a:stretch>
            <a:fillRect/>
          </a:stretch>
        </p:blipFill>
        <p:spPr>
          <a:xfrm>
            <a:off x="5460925" y="1505280"/>
            <a:ext cx="1464275" cy="1296000"/>
          </a:xfrm>
          <a:prstGeom prst="rect">
            <a:avLst/>
          </a:prstGeom>
        </p:spPr>
      </p:pic>
      <p:pic>
        <p:nvPicPr>
          <p:cNvPr id="11" name="Image 10">
            <a:extLst>
              <a:ext uri="{FF2B5EF4-FFF2-40B4-BE49-F238E27FC236}">
                <a16:creationId xmlns:a16="http://schemas.microsoft.com/office/drawing/2014/main" id="{5CB2049A-2DE0-7B0E-5B64-241CDB1BC61F}"/>
              </a:ext>
            </a:extLst>
          </p:cNvPr>
          <p:cNvPicPr>
            <a:picLocks noChangeAspect="1"/>
          </p:cNvPicPr>
          <p:nvPr/>
        </p:nvPicPr>
        <p:blipFill>
          <a:blip r:embed="rId5"/>
          <a:stretch>
            <a:fillRect/>
          </a:stretch>
        </p:blipFill>
        <p:spPr>
          <a:xfrm>
            <a:off x="4077740" y="2760618"/>
            <a:ext cx="4216383" cy="2268000"/>
          </a:xfrm>
          <a:prstGeom prst="rect">
            <a:avLst/>
          </a:prstGeom>
        </p:spPr>
      </p:pic>
      <p:sp>
        <p:nvSpPr>
          <p:cNvPr id="12" name="ZoneTexte 11">
            <a:extLst>
              <a:ext uri="{FF2B5EF4-FFF2-40B4-BE49-F238E27FC236}">
                <a16:creationId xmlns:a16="http://schemas.microsoft.com/office/drawing/2014/main" id="{BD50DC73-FDAB-F1B6-F8A7-31AD356388B7}"/>
              </a:ext>
            </a:extLst>
          </p:cNvPr>
          <p:cNvSpPr txBox="1"/>
          <p:nvPr/>
        </p:nvSpPr>
        <p:spPr>
          <a:xfrm>
            <a:off x="325936" y="3667366"/>
            <a:ext cx="3751804" cy="253916"/>
          </a:xfrm>
          <a:prstGeom prst="rect">
            <a:avLst/>
          </a:prstGeom>
          <a:noFill/>
        </p:spPr>
        <p:txBody>
          <a:bodyPr wrap="square" rtlCol="0">
            <a:spAutoFit/>
          </a:bodyPr>
          <a:lstStyle/>
          <a:p>
            <a:pPr>
              <a:buClr>
                <a:srgbClr val="C00000"/>
              </a:buClr>
            </a:pPr>
            <a:r>
              <a:rPr lang="fr-FR" sz="1050" b="1" dirty="0"/>
              <a:t>Afficher les 20/80 en CA:</a:t>
            </a:r>
          </a:p>
        </p:txBody>
      </p:sp>
      <p:pic>
        <p:nvPicPr>
          <p:cNvPr id="13" name="Image 12">
            <a:extLst>
              <a:ext uri="{FF2B5EF4-FFF2-40B4-BE49-F238E27FC236}">
                <a16:creationId xmlns:a16="http://schemas.microsoft.com/office/drawing/2014/main" id="{E027F9A4-DE8A-4153-2CD1-7BD869076833}"/>
              </a:ext>
            </a:extLst>
          </p:cNvPr>
          <p:cNvPicPr>
            <a:picLocks noChangeAspect="1"/>
          </p:cNvPicPr>
          <p:nvPr/>
        </p:nvPicPr>
        <p:blipFill>
          <a:blip r:embed="rId6"/>
          <a:stretch>
            <a:fillRect/>
          </a:stretch>
        </p:blipFill>
        <p:spPr>
          <a:xfrm>
            <a:off x="325936" y="4001046"/>
            <a:ext cx="3187493" cy="234962"/>
          </a:xfrm>
          <a:prstGeom prst="rect">
            <a:avLst/>
          </a:prstGeom>
        </p:spPr>
      </p:pic>
      <p:sp>
        <p:nvSpPr>
          <p:cNvPr id="14" name="ZoneTexte 13">
            <a:extLst>
              <a:ext uri="{FF2B5EF4-FFF2-40B4-BE49-F238E27FC236}">
                <a16:creationId xmlns:a16="http://schemas.microsoft.com/office/drawing/2014/main" id="{252EAFAF-8555-89BC-99A1-6CFCDBB7A421}"/>
              </a:ext>
            </a:extLst>
          </p:cNvPr>
          <p:cNvSpPr txBox="1"/>
          <p:nvPr/>
        </p:nvSpPr>
        <p:spPr>
          <a:xfrm>
            <a:off x="325936" y="4414835"/>
            <a:ext cx="3400799" cy="577081"/>
          </a:xfrm>
          <a:prstGeom prst="rect">
            <a:avLst/>
          </a:prstGeom>
          <a:noFill/>
        </p:spPr>
        <p:txBody>
          <a:bodyPr wrap="square">
            <a:spAutoFit/>
          </a:bodyPr>
          <a:lstStyle/>
          <a:p>
            <a:r>
              <a:rPr lang="fr-FR" sz="1050" dirty="0">
                <a:latin typeface="+mn-lt"/>
              </a:rPr>
              <a:t>Cela signifie que 584 articles sur les 825 disponibles représentent 80 % du chiffre d'affaires, ce qui correspond à environ 70,79 % du catalogue.</a:t>
            </a:r>
            <a:endParaRPr lang="en-GB" sz="1050" dirty="0">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6F55DDD-3ECF-9F55-6B29-06689C801341}"/>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2384E018-A2E4-4754-01B0-3CCDF85A8F99}"/>
              </a:ext>
            </a:extLst>
          </p:cNvPr>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E16D473D-480F-1A3D-0AF8-10A822870315}"/>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a:t>
            </a:r>
            <a:r>
              <a:rPr lang="fr-FR" sz="2500" noProof="0" dirty="0" err="1">
                <a:solidFill>
                  <a:srgbClr val="F3F3F3"/>
                </a:solidFill>
                <a:latin typeface="Montserrat"/>
                <a:sym typeface="Montserrat"/>
              </a:rPr>
              <a:t>correlations</a:t>
            </a:r>
            <a:endParaRPr lang="fr-FR" noProof="0" dirty="0"/>
          </a:p>
        </p:txBody>
      </p:sp>
      <p:sp>
        <p:nvSpPr>
          <p:cNvPr id="89" name="Google Shape;89;p7">
            <a:extLst>
              <a:ext uri="{FF2B5EF4-FFF2-40B4-BE49-F238E27FC236}">
                <a16:creationId xmlns:a16="http://schemas.microsoft.com/office/drawing/2014/main" id="{6415F8A3-625B-1921-8B74-B3C34F1674B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4" name="ZoneTexte 3">
            <a:extLst>
              <a:ext uri="{FF2B5EF4-FFF2-40B4-BE49-F238E27FC236}">
                <a16:creationId xmlns:a16="http://schemas.microsoft.com/office/drawing/2014/main" id="{C2764854-7665-0A60-5DF6-AD4D381F48D9}"/>
              </a:ext>
            </a:extLst>
          </p:cNvPr>
          <p:cNvSpPr txBox="1"/>
          <p:nvPr/>
        </p:nvSpPr>
        <p:spPr>
          <a:xfrm>
            <a:off x="3875652" y="1332321"/>
            <a:ext cx="3751804" cy="253916"/>
          </a:xfrm>
          <a:prstGeom prst="rect">
            <a:avLst/>
          </a:prstGeom>
          <a:noFill/>
        </p:spPr>
        <p:txBody>
          <a:bodyPr wrap="square" rtlCol="0">
            <a:spAutoFit/>
          </a:bodyPr>
          <a:lstStyle/>
          <a:p>
            <a:pPr>
              <a:buClr>
                <a:srgbClr val="C00000"/>
              </a:buClr>
            </a:pPr>
            <a:r>
              <a:rPr lang="fr-FR" sz="1050" b="1" dirty="0"/>
              <a:t>  les 20 premiers articles en quantité</a:t>
            </a:r>
          </a:p>
        </p:txBody>
      </p:sp>
      <p:pic>
        <p:nvPicPr>
          <p:cNvPr id="8" name="Image 7">
            <a:extLst>
              <a:ext uri="{FF2B5EF4-FFF2-40B4-BE49-F238E27FC236}">
                <a16:creationId xmlns:a16="http://schemas.microsoft.com/office/drawing/2014/main" id="{5AE0D087-688A-5A44-8AA0-A9A791C3C38F}"/>
              </a:ext>
            </a:extLst>
          </p:cNvPr>
          <p:cNvPicPr>
            <a:picLocks noChangeAspect="1"/>
          </p:cNvPicPr>
          <p:nvPr/>
        </p:nvPicPr>
        <p:blipFill>
          <a:blip r:embed="rId3"/>
          <a:stretch>
            <a:fillRect/>
          </a:stretch>
        </p:blipFill>
        <p:spPr>
          <a:xfrm>
            <a:off x="4002559" y="1929203"/>
            <a:ext cx="5184353" cy="2556000"/>
          </a:xfrm>
          <a:prstGeom prst="rect">
            <a:avLst/>
          </a:prstGeom>
        </p:spPr>
      </p:pic>
      <p:sp>
        <p:nvSpPr>
          <p:cNvPr id="2" name="ZoneTexte 1">
            <a:extLst>
              <a:ext uri="{FF2B5EF4-FFF2-40B4-BE49-F238E27FC236}">
                <a16:creationId xmlns:a16="http://schemas.microsoft.com/office/drawing/2014/main" id="{E60B3C1A-5489-C56C-3BFD-9499A8C9482A}"/>
              </a:ext>
            </a:extLst>
          </p:cNvPr>
          <p:cNvSpPr txBox="1"/>
          <p:nvPr/>
        </p:nvSpPr>
        <p:spPr>
          <a:xfrm>
            <a:off x="310245" y="1159467"/>
            <a:ext cx="3751804" cy="253916"/>
          </a:xfrm>
          <a:prstGeom prst="rect">
            <a:avLst/>
          </a:prstGeom>
          <a:noFill/>
        </p:spPr>
        <p:txBody>
          <a:bodyPr wrap="square" rtlCol="0">
            <a:spAutoFit/>
          </a:bodyPr>
          <a:lstStyle/>
          <a:p>
            <a:pPr>
              <a:buClr>
                <a:srgbClr val="C00000"/>
              </a:buClr>
            </a:pPr>
            <a:r>
              <a:rPr lang="fr-FR" sz="1050" b="1" dirty="0"/>
              <a:t>Analyse des ventes en quantité</a:t>
            </a:r>
            <a:r>
              <a:rPr lang="fr-FR" sz="1050" dirty="0"/>
              <a:t>:</a:t>
            </a:r>
          </a:p>
        </p:txBody>
      </p:sp>
      <p:pic>
        <p:nvPicPr>
          <p:cNvPr id="6" name="Image 5">
            <a:extLst>
              <a:ext uri="{FF2B5EF4-FFF2-40B4-BE49-F238E27FC236}">
                <a16:creationId xmlns:a16="http://schemas.microsoft.com/office/drawing/2014/main" id="{CFC7302B-9163-9DE0-27FC-EBDE17FCD62D}"/>
              </a:ext>
            </a:extLst>
          </p:cNvPr>
          <p:cNvPicPr>
            <a:picLocks noChangeAspect="1"/>
          </p:cNvPicPr>
          <p:nvPr/>
        </p:nvPicPr>
        <p:blipFill>
          <a:blip r:embed="rId4"/>
          <a:stretch>
            <a:fillRect/>
          </a:stretch>
        </p:blipFill>
        <p:spPr>
          <a:xfrm>
            <a:off x="293177" y="1845394"/>
            <a:ext cx="2343395" cy="360000"/>
          </a:xfrm>
          <a:prstGeom prst="rect">
            <a:avLst/>
          </a:prstGeom>
        </p:spPr>
      </p:pic>
      <p:sp>
        <p:nvSpPr>
          <p:cNvPr id="9" name="ZoneTexte 8">
            <a:extLst>
              <a:ext uri="{FF2B5EF4-FFF2-40B4-BE49-F238E27FC236}">
                <a16:creationId xmlns:a16="http://schemas.microsoft.com/office/drawing/2014/main" id="{20596236-007B-877D-59B1-8CCE1FFC74EF}"/>
              </a:ext>
            </a:extLst>
          </p:cNvPr>
          <p:cNvSpPr txBox="1"/>
          <p:nvPr/>
        </p:nvSpPr>
        <p:spPr>
          <a:xfrm>
            <a:off x="310245" y="1468814"/>
            <a:ext cx="4708826" cy="253916"/>
          </a:xfrm>
          <a:prstGeom prst="rect">
            <a:avLst/>
          </a:prstGeom>
          <a:noFill/>
        </p:spPr>
        <p:txBody>
          <a:bodyPr wrap="square">
            <a:spAutoFit/>
          </a:bodyPr>
          <a:lstStyle/>
          <a:p>
            <a:r>
              <a:rPr kumimoji="0" lang="fr-FR" sz="1050" b="1" i="0" u="none" strike="noStrike" kern="0" cap="none" spc="0" normalizeH="0" baseline="0" noProof="0" dirty="0">
                <a:ln>
                  <a:noFill/>
                </a:ln>
                <a:solidFill>
                  <a:srgbClr val="000000"/>
                </a:solidFill>
                <a:effectLst/>
                <a:uLnTx/>
                <a:uFillTx/>
                <a:latin typeface="Arial"/>
                <a:cs typeface="Arial"/>
                <a:sym typeface="Arial"/>
              </a:rPr>
              <a:t>Afficher les 20/80 en quantité: </a:t>
            </a:r>
            <a:endParaRPr lang="en-GB" dirty="0"/>
          </a:p>
        </p:txBody>
      </p:sp>
      <p:sp>
        <p:nvSpPr>
          <p:cNvPr id="10" name="ZoneTexte 9">
            <a:extLst>
              <a:ext uri="{FF2B5EF4-FFF2-40B4-BE49-F238E27FC236}">
                <a16:creationId xmlns:a16="http://schemas.microsoft.com/office/drawing/2014/main" id="{FD59D391-4FED-CFC8-0780-04E8CB18E915}"/>
              </a:ext>
            </a:extLst>
          </p:cNvPr>
          <p:cNvSpPr txBox="1"/>
          <p:nvPr/>
        </p:nvSpPr>
        <p:spPr>
          <a:xfrm>
            <a:off x="233045" y="2528827"/>
            <a:ext cx="3437904" cy="784830"/>
          </a:xfrm>
          <a:prstGeom prst="rect">
            <a:avLst/>
          </a:prstGeom>
          <a:noFill/>
        </p:spPr>
        <p:txBody>
          <a:bodyPr wrap="square">
            <a:spAutoFit/>
          </a:bodyPr>
          <a:lstStyle/>
          <a:p>
            <a:r>
              <a:rPr lang="fr-FR" sz="900" dirty="0">
                <a:latin typeface="+mn-lt"/>
              </a:rPr>
              <a:t>548 articles sur 711 représentent 80 % des ventes en quantité, ce qui correspond à77,07% du catalogue. Cela signifie que plus des deux tiers des articles sont nécessaires pour générer 80 % des ventes, suggérant que les ventes sont réparties sur un large nombre d'articles.</a:t>
            </a:r>
            <a:endParaRPr lang="en-GB" sz="900" dirty="0">
              <a:latin typeface="+mn-lt"/>
            </a:endParaRPr>
          </a:p>
        </p:txBody>
      </p:sp>
    </p:spTree>
    <p:extLst>
      <p:ext uri="{BB962C8B-B14F-4D97-AF65-F5344CB8AC3E}">
        <p14:creationId xmlns:p14="http://schemas.microsoft.com/office/powerpoint/2010/main" val="4272871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3A74E08B-D960-81E1-6D16-AB206E50B62B}"/>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398755A5-53C1-3545-8EB5-55671EB916EB}"/>
              </a:ext>
            </a:extLst>
          </p:cNvPr>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82EBBF59-4551-E962-98DF-DBC115FF56CF}"/>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corrélations</a:t>
            </a:r>
            <a:endParaRPr lang="fr-FR" noProof="0" dirty="0"/>
          </a:p>
        </p:txBody>
      </p:sp>
      <p:sp>
        <p:nvSpPr>
          <p:cNvPr id="89" name="Google Shape;89;p7">
            <a:extLst>
              <a:ext uri="{FF2B5EF4-FFF2-40B4-BE49-F238E27FC236}">
                <a16:creationId xmlns:a16="http://schemas.microsoft.com/office/drawing/2014/main" id="{099354E4-EBB9-2B28-DC10-FC1CBD58FAA7}"/>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10" name="ZoneTexte 9">
            <a:extLst>
              <a:ext uri="{FF2B5EF4-FFF2-40B4-BE49-F238E27FC236}">
                <a16:creationId xmlns:a16="http://schemas.microsoft.com/office/drawing/2014/main" id="{F4C92A66-53FD-A60D-3CB5-4A70D8E7A080}"/>
              </a:ext>
            </a:extLst>
          </p:cNvPr>
          <p:cNvSpPr txBox="1"/>
          <p:nvPr/>
        </p:nvSpPr>
        <p:spPr>
          <a:xfrm>
            <a:off x="4033872" y="1789402"/>
            <a:ext cx="4300017" cy="2354491"/>
          </a:xfrm>
          <a:prstGeom prst="rect">
            <a:avLst/>
          </a:prstGeom>
          <a:noFill/>
        </p:spPr>
        <p:txBody>
          <a:bodyPr wrap="square">
            <a:spAutoFit/>
          </a:bodyPr>
          <a:lstStyle/>
          <a:p>
            <a:r>
              <a:rPr lang="fr-FR" sz="1050" b="1" dirty="0">
                <a:latin typeface="+mn-lt"/>
              </a:rPr>
              <a:t>Valorisation totale des stocks </a:t>
            </a:r>
            <a:r>
              <a:rPr lang="fr-FR" sz="1050" dirty="0">
                <a:latin typeface="+mn-lt"/>
              </a:rPr>
              <a:t>: 493734,1€</a:t>
            </a:r>
          </a:p>
          <a:p>
            <a:endParaRPr lang="fr-FR" sz="1050" dirty="0">
              <a:latin typeface="+mn-lt"/>
            </a:endParaRPr>
          </a:p>
          <a:p>
            <a:r>
              <a:rPr lang="fr-FR" sz="1050" b="1" dirty="0">
                <a:latin typeface="+mn-lt"/>
              </a:rPr>
              <a:t>Quantité totale de produits en stock </a:t>
            </a:r>
            <a:r>
              <a:rPr lang="fr-FR" sz="1050" dirty="0">
                <a:latin typeface="+mn-lt"/>
              </a:rPr>
              <a:t>: 16 711unités</a:t>
            </a:r>
          </a:p>
          <a:p>
            <a:endParaRPr lang="fr-FR" sz="1050" dirty="0">
              <a:latin typeface="+mn-lt"/>
            </a:endParaRPr>
          </a:p>
          <a:p>
            <a:r>
              <a:rPr lang="fr-FR" sz="1050" dirty="0">
                <a:latin typeface="+mn-lt"/>
              </a:rPr>
              <a:t>Le graphique montre que plusieurs articles (notamment des champagnes de marques renommées) ont un nombre de mois de stock élevé, dépassant parfois 800 mois.</a:t>
            </a:r>
          </a:p>
          <a:p>
            <a:endParaRPr lang="fr-FR" sz="1050" dirty="0">
              <a:latin typeface="+mn-lt"/>
            </a:endParaRPr>
          </a:p>
          <a:p>
            <a:r>
              <a:rPr lang="fr-FR" sz="1050" dirty="0">
                <a:latin typeface="+mn-lt"/>
              </a:rPr>
              <a:t>Cela signifie que vous avez des quantités significatives de certains produits qui risquent de rester longtemps en stock avant d'être écoulés. </a:t>
            </a:r>
          </a:p>
          <a:p>
            <a:endParaRPr lang="fr-FR" sz="1050" dirty="0">
              <a:latin typeface="+mn-lt"/>
            </a:endParaRPr>
          </a:p>
          <a:p>
            <a:r>
              <a:rPr lang="fr-FR" sz="1050" dirty="0">
                <a:latin typeface="+mn-lt"/>
              </a:rPr>
              <a:t>Un excès de stock (surstockage) peut engendrer des coûts supplémentaires, tels que les coûts de stockage.</a:t>
            </a:r>
            <a:endParaRPr lang="en-GB" sz="1050" dirty="0">
              <a:latin typeface="+mn-lt"/>
            </a:endParaRPr>
          </a:p>
        </p:txBody>
      </p:sp>
      <p:sp>
        <p:nvSpPr>
          <p:cNvPr id="5" name="ZoneTexte 4">
            <a:extLst>
              <a:ext uri="{FF2B5EF4-FFF2-40B4-BE49-F238E27FC236}">
                <a16:creationId xmlns:a16="http://schemas.microsoft.com/office/drawing/2014/main" id="{B608EC2A-675E-3067-BB9D-A8C1EC73A866}"/>
              </a:ext>
            </a:extLst>
          </p:cNvPr>
          <p:cNvSpPr txBox="1"/>
          <p:nvPr/>
        </p:nvSpPr>
        <p:spPr>
          <a:xfrm>
            <a:off x="445519" y="1190873"/>
            <a:ext cx="7443684" cy="415498"/>
          </a:xfrm>
          <a:prstGeom prst="rect">
            <a:avLst/>
          </a:prstGeom>
          <a:noFill/>
        </p:spPr>
        <p:txBody>
          <a:bodyPr wrap="square">
            <a:spAutoFit/>
          </a:bodyPr>
          <a:lstStyle/>
          <a:p>
            <a:pPr algn="l"/>
            <a:r>
              <a:rPr lang="fr-FR" sz="1050" b="1" i="0" dirty="0">
                <a:solidFill>
                  <a:schemeClr val="tx1"/>
                </a:solidFill>
                <a:effectLst/>
                <a:latin typeface="+mn-lt"/>
              </a:rPr>
              <a:t>Analyse des stocks:</a:t>
            </a:r>
          </a:p>
          <a:p>
            <a:pPr algn="l"/>
            <a:r>
              <a:rPr lang="fr-FR" sz="1050" b="1" dirty="0">
                <a:solidFill>
                  <a:schemeClr val="tx1"/>
                </a:solidFill>
                <a:latin typeface="+mn-lt"/>
              </a:rPr>
              <a:t>Top 20 des produits avec le plus de mois de stocks</a:t>
            </a:r>
            <a:endParaRPr lang="fr-FR" sz="1050" b="1" i="0" dirty="0">
              <a:solidFill>
                <a:schemeClr val="tx1"/>
              </a:solidFill>
              <a:effectLst/>
              <a:latin typeface="+mn-lt"/>
            </a:endParaRPr>
          </a:p>
        </p:txBody>
      </p:sp>
      <p:pic>
        <p:nvPicPr>
          <p:cNvPr id="6" name="Image 5">
            <a:extLst>
              <a:ext uri="{FF2B5EF4-FFF2-40B4-BE49-F238E27FC236}">
                <a16:creationId xmlns:a16="http://schemas.microsoft.com/office/drawing/2014/main" id="{E551BAD3-D73F-FBFA-DC3E-174B03E86F3E}"/>
              </a:ext>
            </a:extLst>
          </p:cNvPr>
          <p:cNvPicPr>
            <a:picLocks noChangeAspect="1"/>
          </p:cNvPicPr>
          <p:nvPr/>
        </p:nvPicPr>
        <p:blipFill>
          <a:blip r:embed="rId3"/>
          <a:stretch>
            <a:fillRect/>
          </a:stretch>
        </p:blipFill>
        <p:spPr>
          <a:xfrm>
            <a:off x="312030" y="1709308"/>
            <a:ext cx="3385617" cy="2815971"/>
          </a:xfrm>
          <a:prstGeom prst="rect">
            <a:avLst/>
          </a:prstGeom>
        </p:spPr>
      </p:pic>
    </p:spTree>
    <p:extLst>
      <p:ext uri="{BB962C8B-B14F-4D97-AF65-F5344CB8AC3E}">
        <p14:creationId xmlns:p14="http://schemas.microsoft.com/office/powerpoint/2010/main" val="373703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82D0A793-D2B1-ED5B-9A44-366980AC8D17}"/>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A5CB854D-9656-994D-891F-28AE58235735}"/>
              </a:ext>
            </a:extLst>
          </p:cNvPr>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A6150145-A9C0-266F-4597-982054616B23}"/>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corrélations</a:t>
            </a:r>
            <a:endParaRPr lang="fr-FR" noProof="0" dirty="0"/>
          </a:p>
        </p:txBody>
      </p:sp>
      <p:sp>
        <p:nvSpPr>
          <p:cNvPr id="89" name="Google Shape;89;p7">
            <a:extLst>
              <a:ext uri="{FF2B5EF4-FFF2-40B4-BE49-F238E27FC236}">
                <a16:creationId xmlns:a16="http://schemas.microsoft.com/office/drawing/2014/main" id="{D68CF850-0E19-102E-2F8A-DBD9706D332C}"/>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10" name="ZoneTexte 9">
            <a:extLst>
              <a:ext uri="{FF2B5EF4-FFF2-40B4-BE49-F238E27FC236}">
                <a16:creationId xmlns:a16="http://schemas.microsoft.com/office/drawing/2014/main" id="{E7657E3D-B8D8-0F20-B11F-9D116259A8EC}"/>
              </a:ext>
            </a:extLst>
          </p:cNvPr>
          <p:cNvSpPr txBox="1"/>
          <p:nvPr/>
        </p:nvSpPr>
        <p:spPr>
          <a:xfrm>
            <a:off x="4031371" y="1676354"/>
            <a:ext cx="4985814" cy="3162404"/>
          </a:xfrm>
          <a:prstGeom prst="rect">
            <a:avLst/>
          </a:prstGeom>
          <a:noFill/>
        </p:spPr>
        <p:txBody>
          <a:bodyPr wrap="square">
            <a:spAutoFit/>
          </a:bodyPr>
          <a:lstStyle/>
          <a:p>
            <a:r>
              <a:rPr lang="fr-FR" sz="1050" dirty="0">
                <a:latin typeface="+mn-lt"/>
              </a:rPr>
              <a:t>Ce résultat indique qu'il y a des produits où le </a:t>
            </a:r>
            <a:r>
              <a:rPr lang="fr-FR" sz="1050" b="1" dirty="0">
                <a:latin typeface="+mn-lt"/>
              </a:rPr>
              <a:t>prix de vente</a:t>
            </a:r>
            <a:r>
              <a:rPr lang="fr-FR" sz="1050" dirty="0">
                <a:latin typeface="+mn-lt"/>
              </a:rPr>
              <a:t> est soit nul (0 €), soit inférieur au prix d'achat. Cela peut être dû à des erreurs de prix ou à des stratégies spécifiques (produits offerts, remises importantes, etc.). Les taux de marge négatifs signifient que vous </a:t>
            </a:r>
            <a:r>
              <a:rPr lang="fr-FR" sz="1050" b="1" dirty="0">
                <a:latin typeface="+mn-lt"/>
              </a:rPr>
              <a:t>perdez de l'argent</a:t>
            </a:r>
            <a:r>
              <a:rPr lang="fr-FR" sz="1050" dirty="0">
                <a:latin typeface="+mn-lt"/>
              </a:rPr>
              <a:t> sur ces produits.</a:t>
            </a:r>
          </a:p>
          <a:p>
            <a:endParaRPr lang="fr-FR" sz="1050" dirty="0">
              <a:latin typeface="+mn-lt"/>
            </a:endParaRPr>
          </a:p>
          <a:p>
            <a:endParaRPr lang="fr-FR" sz="1050" dirty="0">
              <a:latin typeface="+mn-lt"/>
            </a:endParaRPr>
          </a:p>
          <a:p>
            <a:endParaRPr lang="fr-FR" sz="1050" dirty="0">
              <a:latin typeface="+mn-lt"/>
            </a:endParaRPr>
          </a:p>
          <a:p>
            <a:r>
              <a:rPr lang="fr-FR" sz="1050" dirty="0">
                <a:latin typeface="+mn-lt"/>
              </a:rPr>
              <a:t>Pour les marges positives:</a:t>
            </a:r>
          </a:p>
          <a:p>
            <a:r>
              <a:rPr lang="fr-FR" sz="1050" b="1" dirty="0">
                <a:latin typeface="+mn-lt"/>
              </a:rPr>
              <a:t>Taux de marge minimum </a:t>
            </a:r>
            <a:r>
              <a:rPr lang="fr-FR" sz="1050" dirty="0">
                <a:latin typeface="+mn-lt"/>
              </a:rPr>
              <a:t>: 0.2278 (22.78 %).</a:t>
            </a:r>
          </a:p>
          <a:p>
            <a:r>
              <a:rPr lang="fr-FR" sz="1050" b="1" dirty="0">
                <a:latin typeface="+mn-lt"/>
              </a:rPr>
              <a:t>Taux de marge maximum </a:t>
            </a:r>
            <a:r>
              <a:rPr lang="fr-FR" sz="1050" dirty="0">
                <a:latin typeface="+mn-lt"/>
              </a:rPr>
              <a:t>: 0.4776 (47.76 %)</a:t>
            </a:r>
          </a:p>
          <a:p>
            <a:endParaRPr lang="fr-FR" sz="1050" dirty="0">
              <a:latin typeface="+mn-lt"/>
            </a:endParaRPr>
          </a:p>
          <a:p>
            <a:r>
              <a:rPr lang="fr-FR" sz="1050" dirty="0">
                <a:latin typeface="+mn-lt"/>
              </a:rPr>
              <a:t>Les spiritueux comme le Cognac, le Whisky et le Gin sont les plus rentables en termes de marge.</a:t>
            </a:r>
          </a:p>
          <a:p>
            <a:r>
              <a:rPr lang="fr-FR" sz="1050" dirty="0">
                <a:latin typeface="+mn-lt"/>
              </a:rPr>
              <a:t>Le Champagne est nettement moins rentable en termes de marge, ce qui peut être lié à des coûts d'acquisition élevés ou des stratégies de prix plus </a:t>
            </a:r>
            <a:r>
              <a:rPr lang="fr-FR" sz="1050" dirty="0" err="1">
                <a:latin typeface="+mn-lt"/>
              </a:rPr>
              <a:t>compétitives.L'huile</a:t>
            </a:r>
            <a:r>
              <a:rPr lang="fr-FR" sz="1050" dirty="0">
                <a:latin typeface="+mn-lt"/>
              </a:rPr>
              <a:t> d'olive et d'autres produits affichent des marges intermédiaires, reflétant un équilibre entre coûts et prix de vente.</a:t>
            </a:r>
          </a:p>
          <a:p>
            <a:endParaRPr lang="fr-FR" sz="1050" dirty="0">
              <a:latin typeface="+mn-lt"/>
            </a:endParaRPr>
          </a:p>
          <a:p>
            <a:endParaRPr lang="en-GB" sz="1050" dirty="0">
              <a:latin typeface="+mn-lt"/>
            </a:endParaRPr>
          </a:p>
        </p:txBody>
      </p:sp>
      <p:sp>
        <p:nvSpPr>
          <p:cNvPr id="5" name="ZoneTexte 4">
            <a:extLst>
              <a:ext uri="{FF2B5EF4-FFF2-40B4-BE49-F238E27FC236}">
                <a16:creationId xmlns:a16="http://schemas.microsoft.com/office/drawing/2014/main" id="{A72B3949-19EC-DF2F-5C38-C65097123D14}"/>
              </a:ext>
            </a:extLst>
          </p:cNvPr>
          <p:cNvSpPr txBox="1"/>
          <p:nvPr/>
        </p:nvSpPr>
        <p:spPr>
          <a:xfrm>
            <a:off x="312030" y="1306502"/>
            <a:ext cx="7443684" cy="253916"/>
          </a:xfrm>
          <a:prstGeom prst="rect">
            <a:avLst/>
          </a:prstGeom>
          <a:noFill/>
        </p:spPr>
        <p:txBody>
          <a:bodyPr wrap="square">
            <a:spAutoFit/>
          </a:bodyPr>
          <a:lstStyle/>
          <a:p>
            <a:pPr algn="l"/>
            <a:r>
              <a:rPr lang="fr-FR" sz="1050" b="1" i="0" dirty="0">
                <a:solidFill>
                  <a:schemeClr val="tx1"/>
                </a:solidFill>
                <a:effectLst/>
                <a:latin typeface="+mn-lt"/>
              </a:rPr>
              <a:t>Taux de marge par produit</a:t>
            </a:r>
          </a:p>
        </p:txBody>
      </p:sp>
      <p:pic>
        <p:nvPicPr>
          <p:cNvPr id="3" name="Image 2">
            <a:extLst>
              <a:ext uri="{FF2B5EF4-FFF2-40B4-BE49-F238E27FC236}">
                <a16:creationId xmlns:a16="http://schemas.microsoft.com/office/drawing/2014/main" id="{5094E04D-44EB-683E-06C0-A24FD230CA9B}"/>
              </a:ext>
            </a:extLst>
          </p:cNvPr>
          <p:cNvPicPr>
            <a:picLocks noChangeAspect="1"/>
          </p:cNvPicPr>
          <p:nvPr/>
        </p:nvPicPr>
        <p:blipFill>
          <a:blip r:embed="rId3"/>
          <a:stretch>
            <a:fillRect/>
          </a:stretch>
        </p:blipFill>
        <p:spPr>
          <a:xfrm>
            <a:off x="209412" y="2879879"/>
            <a:ext cx="3821958" cy="1823120"/>
          </a:xfrm>
          <a:prstGeom prst="rect">
            <a:avLst/>
          </a:prstGeom>
        </p:spPr>
      </p:pic>
      <p:pic>
        <p:nvPicPr>
          <p:cNvPr id="7" name="Image 6">
            <a:extLst>
              <a:ext uri="{FF2B5EF4-FFF2-40B4-BE49-F238E27FC236}">
                <a16:creationId xmlns:a16="http://schemas.microsoft.com/office/drawing/2014/main" id="{027D59E2-6392-152A-3B73-0F0E7B0764AC}"/>
              </a:ext>
            </a:extLst>
          </p:cNvPr>
          <p:cNvPicPr>
            <a:picLocks noChangeAspect="1"/>
          </p:cNvPicPr>
          <p:nvPr/>
        </p:nvPicPr>
        <p:blipFill>
          <a:blip r:embed="rId4"/>
          <a:stretch>
            <a:fillRect/>
          </a:stretch>
        </p:blipFill>
        <p:spPr>
          <a:xfrm>
            <a:off x="413907" y="1676354"/>
            <a:ext cx="2749691" cy="895396"/>
          </a:xfrm>
          <a:prstGeom prst="rect">
            <a:avLst/>
          </a:prstGeom>
        </p:spPr>
      </p:pic>
    </p:spTree>
    <p:extLst>
      <p:ext uri="{BB962C8B-B14F-4D97-AF65-F5344CB8AC3E}">
        <p14:creationId xmlns:p14="http://schemas.microsoft.com/office/powerpoint/2010/main" val="2960775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FB8DC25-DC24-A283-AACA-2494EEEC23F1}"/>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BD317081-BBBB-6DEE-77D8-60622633CC8A}"/>
              </a:ext>
            </a:extLst>
          </p:cNvPr>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3FDF4C0A-F9C9-47EA-7E33-41B17EB66C37}"/>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corrélations</a:t>
            </a:r>
            <a:endParaRPr lang="fr-FR" noProof="0" dirty="0"/>
          </a:p>
        </p:txBody>
      </p:sp>
      <p:sp>
        <p:nvSpPr>
          <p:cNvPr id="89" name="Google Shape;89;p7">
            <a:extLst>
              <a:ext uri="{FF2B5EF4-FFF2-40B4-BE49-F238E27FC236}">
                <a16:creationId xmlns:a16="http://schemas.microsoft.com/office/drawing/2014/main" id="{96794C1E-280A-5213-2F6C-BC0A68825273}"/>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5" name="ZoneTexte 4">
            <a:extLst>
              <a:ext uri="{FF2B5EF4-FFF2-40B4-BE49-F238E27FC236}">
                <a16:creationId xmlns:a16="http://schemas.microsoft.com/office/drawing/2014/main" id="{AE4402DD-038E-263F-86A3-21AD3B929DB3}"/>
              </a:ext>
            </a:extLst>
          </p:cNvPr>
          <p:cNvSpPr txBox="1"/>
          <p:nvPr/>
        </p:nvSpPr>
        <p:spPr>
          <a:xfrm>
            <a:off x="6392455" y="1885723"/>
            <a:ext cx="2077425" cy="2516073"/>
          </a:xfrm>
          <a:prstGeom prst="rect">
            <a:avLst/>
          </a:prstGeom>
          <a:noFill/>
        </p:spPr>
        <p:txBody>
          <a:bodyPr wrap="square">
            <a:spAutoFit/>
          </a:bodyPr>
          <a:lstStyle/>
          <a:p>
            <a:pPr algn="l"/>
            <a:r>
              <a:rPr lang="fr-FR" sz="1050" dirty="0">
                <a:latin typeface="+mn-lt"/>
              </a:rPr>
              <a:t>Cette analyse démontre qu'il ne faut pas se baser uniquement sur un seul indicateur pour évaluer la rentabilité. En effet, bien que le taux de marge moyen par produit montre que le champagne a le plus faible taux de marge, l'analyse du taux de marge en euros révèle que le champagne se classe en troisième position en termes de marge la plus élevée. Cela souligne l'importance d'examiner plusieurs aspects pour une évaluation complète.</a:t>
            </a:r>
            <a:endParaRPr lang="fr-FR" sz="1050" b="1" i="0" dirty="0">
              <a:solidFill>
                <a:schemeClr val="tx1"/>
              </a:solidFill>
              <a:effectLst/>
              <a:latin typeface="+mn-lt"/>
            </a:endParaRPr>
          </a:p>
        </p:txBody>
      </p:sp>
      <p:pic>
        <p:nvPicPr>
          <p:cNvPr id="3" name="Image 2">
            <a:extLst>
              <a:ext uri="{FF2B5EF4-FFF2-40B4-BE49-F238E27FC236}">
                <a16:creationId xmlns:a16="http://schemas.microsoft.com/office/drawing/2014/main" id="{A69DA2DD-3F3F-1E1F-827E-CC24F44ABD9A}"/>
              </a:ext>
            </a:extLst>
          </p:cNvPr>
          <p:cNvPicPr>
            <a:picLocks noChangeAspect="1"/>
          </p:cNvPicPr>
          <p:nvPr/>
        </p:nvPicPr>
        <p:blipFill>
          <a:blip r:embed="rId3"/>
          <a:stretch>
            <a:fillRect/>
          </a:stretch>
        </p:blipFill>
        <p:spPr>
          <a:xfrm>
            <a:off x="224769" y="2076581"/>
            <a:ext cx="5140806" cy="2196000"/>
          </a:xfrm>
          <a:prstGeom prst="rect">
            <a:avLst/>
          </a:prstGeom>
        </p:spPr>
      </p:pic>
    </p:spTree>
    <p:extLst>
      <p:ext uri="{BB962C8B-B14F-4D97-AF65-F5344CB8AC3E}">
        <p14:creationId xmlns:p14="http://schemas.microsoft.com/office/powerpoint/2010/main" val="83836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B7243D67-115B-AFCD-7B1A-B09D95714B7A}"/>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09663E11-9D2A-7506-6100-CFA08A166A72}"/>
              </a:ext>
            </a:extLst>
          </p:cNvPr>
          <p:cNvSpPr/>
          <p:nvPr/>
        </p:nvSpPr>
        <p:spPr>
          <a:xfrm>
            <a:off x="0" y="0"/>
            <a:ext cx="9144000" cy="1168029"/>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D46316EE-C97F-E348-C738-07E9F9F20CB4}"/>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FR" sz="2500" b="0" i="0" u="none" strike="noStrike" cap="none" noProof="0"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sym typeface="Montserrat"/>
              </a:rPr>
              <a:t>CA, quantités, stocks, taux de marge et corrélations</a:t>
            </a:r>
            <a:endParaRPr lang="fr-FR" noProof="0" dirty="0"/>
          </a:p>
        </p:txBody>
      </p:sp>
      <p:sp>
        <p:nvSpPr>
          <p:cNvPr id="89" name="Google Shape;89;p7">
            <a:extLst>
              <a:ext uri="{FF2B5EF4-FFF2-40B4-BE49-F238E27FC236}">
                <a16:creationId xmlns:a16="http://schemas.microsoft.com/office/drawing/2014/main" id="{9D1C1B3D-DD8A-F58B-4935-6D2D33E0AF30}"/>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4" name="ZoneTexte 3">
            <a:extLst>
              <a:ext uri="{FF2B5EF4-FFF2-40B4-BE49-F238E27FC236}">
                <a16:creationId xmlns:a16="http://schemas.microsoft.com/office/drawing/2014/main" id="{FC33AC3A-50DD-011A-7DD4-F6DED60D8ECC}"/>
              </a:ext>
            </a:extLst>
          </p:cNvPr>
          <p:cNvSpPr txBox="1"/>
          <p:nvPr/>
        </p:nvSpPr>
        <p:spPr>
          <a:xfrm>
            <a:off x="402977" y="1251363"/>
            <a:ext cx="4708826" cy="253916"/>
          </a:xfrm>
          <a:prstGeom prst="rect">
            <a:avLst/>
          </a:prstGeom>
          <a:noFill/>
        </p:spPr>
        <p:txBody>
          <a:bodyPr wrap="square">
            <a:spAutoFit/>
          </a:bodyPr>
          <a:lstStyle/>
          <a:p>
            <a:pPr algn="l"/>
            <a:r>
              <a:rPr lang="fr-FR" sz="1050" b="1" i="0" dirty="0">
                <a:solidFill>
                  <a:schemeClr val="tx1"/>
                </a:solidFill>
                <a:effectLst/>
                <a:latin typeface="+mn-lt"/>
              </a:rPr>
              <a:t>Analyse des corrélations entre les variables stock, sales et </a:t>
            </a:r>
            <a:r>
              <a:rPr lang="fr-FR" sz="1050" b="1" i="0" dirty="0" err="1">
                <a:solidFill>
                  <a:schemeClr val="tx1"/>
                </a:solidFill>
                <a:effectLst/>
                <a:latin typeface="+mn-lt"/>
              </a:rPr>
              <a:t>price</a:t>
            </a:r>
            <a:r>
              <a:rPr lang="fr-FR" sz="1050" b="1" dirty="0">
                <a:solidFill>
                  <a:schemeClr val="tx1"/>
                </a:solidFill>
                <a:latin typeface="+mn-lt"/>
              </a:rPr>
              <a:t>:</a:t>
            </a:r>
            <a:endParaRPr lang="fr-FR" sz="1050" b="1" i="0" dirty="0">
              <a:solidFill>
                <a:schemeClr val="tx1"/>
              </a:solidFill>
              <a:effectLst/>
              <a:latin typeface="+mn-lt"/>
            </a:endParaRPr>
          </a:p>
        </p:txBody>
      </p:sp>
      <p:pic>
        <p:nvPicPr>
          <p:cNvPr id="1028" name="Picture 4">
            <a:extLst>
              <a:ext uri="{FF2B5EF4-FFF2-40B4-BE49-F238E27FC236}">
                <a16:creationId xmlns:a16="http://schemas.microsoft.com/office/drawing/2014/main" id="{0607542A-6015-A206-45D2-FCA4456A7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43" y="1674250"/>
            <a:ext cx="3556369" cy="31320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5B4E713-44D2-7725-B00F-27B5A017A2C0}"/>
              </a:ext>
            </a:extLst>
          </p:cNvPr>
          <p:cNvSpPr txBox="1"/>
          <p:nvPr/>
        </p:nvSpPr>
        <p:spPr>
          <a:xfrm>
            <a:off x="4735774" y="2224587"/>
            <a:ext cx="3556369" cy="2031325"/>
          </a:xfrm>
          <a:prstGeom prst="rect">
            <a:avLst/>
          </a:prstGeom>
          <a:noFill/>
        </p:spPr>
        <p:txBody>
          <a:bodyPr wrap="square">
            <a:spAutoFit/>
          </a:bodyPr>
          <a:lstStyle/>
          <a:p>
            <a:r>
              <a:rPr lang="en-GB" sz="1050" dirty="0">
                <a:effectLst/>
                <a:latin typeface="+mn-lt"/>
                <a:ea typeface="Times New Roman" panose="02020603050405020304" pitchFamily="18" charset="0"/>
              </a:rPr>
              <a:t>·</a:t>
            </a:r>
            <a:r>
              <a:rPr lang="fr-FR" sz="1050" dirty="0">
                <a:effectLst/>
                <a:latin typeface="+mn-lt"/>
                <a:ea typeface="Times New Roman" panose="02020603050405020304" pitchFamily="18" charset="0"/>
              </a:rPr>
              <a:t>  </a:t>
            </a:r>
            <a:r>
              <a:rPr lang="fr-FR" sz="1050" b="1" dirty="0">
                <a:effectLst/>
                <a:latin typeface="+mn-lt"/>
                <a:ea typeface="Times New Roman" panose="02020603050405020304" pitchFamily="18" charset="0"/>
              </a:rPr>
              <a:t>Corrélation positive entre le stock et les ventes :</a:t>
            </a:r>
            <a:r>
              <a:rPr lang="fr-FR" sz="1050" dirty="0">
                <a:effectLst/>
                <a:latin typeface="+mn-lt"/>
                <a:ea typeface="Times New Roman" panose="02020603050405020304" pitchFamily="18" charset="0"/>
              </a:rPr>
              <a:t> Une forte corrélation positive (indiquée par des couleurs rouges/oranges) montre que plus la quantité en stock est élevée, plus les ventes totales augmentent.</a:t>
            </a:r>
            <a:endParaRPr lang="en-GB" sz="1050" dirty="0">
              <a:effectLst/>
              <a:latin typeface="+mn-lt"/>
              <a:ea typeface="Times New Roman" panose="02020603050405020304" pitchFamily="18" charset="0"/>
            </a:endParaRPr>
          </a:p>
          <a:p>
            <a:r>
              <a:rPr lang="en-GB" sz="1050" dirty="0">
                <a:effectLst/>
                <a:latin typeface="+mn-lt"/>
                <a:ea typeface="Times New Roman" panose="02020603050405020304" pitchFamily="18" charset="0"/>
              </a:rPr>
              <a:t>·</a:t>
            </a:r>
            <a:r>
              <a:rPr lang="fr-FR" sz="1050" dirty="0">
                <a:effectLst/>
                <a:latin typeface="+mn-lt"/>
                <a:ea typeface="Times New Roman" panose="02020603050405020304" pitchFamily="18" charset="0"/>
              </a:rPr>
              <a:t>  </a:t>
            </a:r>
            <a:r>
              <a:rPr lang="fr-FR" sz="1050" b="1" dirty="0">
                <a:effectLst/>
                <a:latin typeface="+mn-lt"/>
                <a:ea typeface="Times New Roman" panose="02020603050405020304" pitchFamily="18" charset="0"/>
              </a:rPr>
              <a:t>Corrélation négative entre les ventes et le prix :</a:t>
            </a:r>
            <a:r>
              <a:rPr lang="fr-FR" sz="1050" dirty="0">
                <a:effectLst/>
                <a:latin typeface="+mn-lt"/>
                <a:ea typeface="Times New Roman" panose="02020603050405020304" pitchFamily="18" charset="0"/>
              </a:rPr>
              <a:t> Une corrélation négative (indiquée par des couleurs bleues) indique qu'un prix plus élevé est associé à des ventes totales plus faibles.</a:t>
            </a:r>
            <a:endParaRPr lang="en-GB" sz="1050" dirty="0">
              <a:effectLst/>
              <a:latin typeface="+mn-lt"/>
              <a:ea typeface="Times New Roman" panose="02020603050405020304" pitchFamily="18" charset="0"/>
            </a:endParaRPr>
          </a:p>
          <a:p>
            <a:r>
              <a:rPr lang="en-GB" sz="1050" dirty="0">
                <a:effectLst/>
                <a:latin typeface="+mn-lt"/>
                <a:ea typeface="Times New Roman" panose="02020603050405020304" pitchFamily="18" charset="0"/>
              </a:rPr>
              <a:t>·</a:t>
            </a:r>
            <a:r>
              <a:rPr lang="fr-FR" sz="1050" dirty="0">
                <a:effectLst/>
                <a:latin typeface="+mn-lt"/>
                <a:ea typeface="Times New Roman" panose="02020603050405020304" pitchFamily="18" charset="0"/>
              </a:rPr>
              <a:t>  </a:t>
            </a:r>
            <a:r>
              <a:rPr lang="fr-FR" sz="1050" b="1" dirty="0">
                <a:effectLst/>
                <a:latin typeface="+mn-lt"/>
                <a:ea typeface="Times New Roman" panose="02020603050405020304" pitchFamily="18" charset="0"/>
              </a:rPr>
              <a:t>Corrélation négative entre le stock et le prix :</a:t>
            </a:r>
            <a:r>
              <a:rPr lang="fr-FR" sz="1050" dirty="0">
                <a:effectLst/>
                <a:latin typeface="+mn-lt"/>
                <a:ea typeface="Times New Roman" panose="02020603050405020304" pitchFamily="18" charset="0"/>
              </a:rPr>
              <a:t> Cette corrélation suggère que les produits moins chers sont souvent ceux qui ont le plus de stock, ou que les articles en stock ont tendance à voir leur prix diminuer.</a:t>
            </a:r>
            <a:endParaRPr lang="en-GB" sz="1050" dirty="0">
              <a:effectLst/>
              <a:latin typeface="+mn-lt"/>
              <a:ea typeface="Times New Roman" panose="02020603050405020304" pitchFamily="18" charset="0"/>
            </a:endParaRPr>
          </a:p>
        </p:txBody>
      </p:sp>
    </p:spTree>
    <p:extLst>
      <p:ext uri="{BB962C8B-B14F-4D97-AF65-F5344CB8AC3E}">
        <p14:creationId xmlns:p14="http://schemas.microsoft.com/office/powerpoint/2010/main" val="289801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96" name="Google Shape;96;g13f9e8f1567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ea typeface="Montserrat"/>
                <a:cs typeface="Montserrat"/>
                <a:sym typeface="Montserrat"/>
              </a:rPr>
              <a:t>Actions pour la suite</a:t>
            </a:r>
            <a:endParaRPr lang="fr-FR" noProof="0" dirty="0"/>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4" name="ZoneTexte 3">
            <a:extLst>
              <a:ext uri="{FF2B5EF4-FFF2-40B4-BE49-F238E27FC236}">
                <a16:creationId xmlns:a16="http://schemas.microsoft.com/office/drawing/2014/main" id="{671F6999-75F9-CF13-F200-94B5B7027F8C}"/>
              </a:ext>
            </a:extLst>
          </p:cNvPr>
          <p:cNvSpPr txBox="1"/>
          <p:nvPr/>
        </p:nvSpPr>
        <p:spPr>
          <a:xfrm>
            <a:off x="599032" y="1998261"/>
            <a:ext cx="4708826" cy="1591974"/>
          </a:xfrm>
          <a:prstGeom prst="rect">
            <a:avLst/>
          </a:prstGeom>
          <a:noFill/>
        </p:spPr>
        <p:txBody>
          <a:bodyPr wrap="square">
            <a:spAutoFit/>
          </a:bodyPr>
          <a:lstStyle/>
          <a:p>
            <a:pPr marL="342900" lvl="0" indent="-342900">
              <a:lnSpc>
                <a:spcPct val="106000"/>
              </a:lnSpc>
              <a:spcBef>
                <a:spcPts val="500"/>
              </a:spcBef>
              <a:spcAft>
                <a:spcPts val="500"/>
              </a:spcAft>
              <a:buSzPts val="1000"/>
              <a:buFont typeface="Wingdings" panose="05000000000000000000" pitchFamily="2" charset="2"/>
              <a:buChar char="§"/>
            </a:pPr>
            <a:r>
              <a:rPr lang="fr-FR" sz="1100" b="1" kern="0" dirty="0">
                <a:effectLst/>
                <a:latin typeface="+mn-lt"/>
                <a:ea typeface="Times New Roman" panose="02020603050405020304" pitchFamily="18" charset="0"/>
                <a:cs typeface="Times New Roman" panose="02020603050405020304" pitchFamily="18" charset="0"/>
              </a:rPr>
              <a:t>Améliorer la qualité des données</a:t>
            </a:r>
            <a:r>
              <a:rPr lang="fr-FR" sz="1100" kern="0" dirty="0">
                <a:effectLst/>
                <a:latin typeface="+mn-lt"/>
                <a:ea typeface="Times New Roman" panose="02020603050405020304" pitchFamily="18" charset="0"/>
                <a:cs typeface="Times New Roman" panose="02020603050405020304" pitchFamily="18" charset="0"/>
              </a:rPr>
              <a:t> en continuant de surveiller les anomalies.</a:t>
            </a:r>
            <a:endParaRPr lang="en-GB" sz="1100" kern="150" dirty="0">
              <a:effectLst/>
              <a:latin typeface="+mn-lt"/>
              <a:ea typeface="Calibri" panose="020F0502020204030204" pitchFamily="34" charset="0"/>
              <a:cs typeface="Times New Roman" panose="02020603050405020304" pitchFamily="18" charset="0"/>
            </a:endParaRPr>
          </a:p>
          <a:p>
            <a:pPr marL="342900" lvl="0" indent="-342900">
              <a:lnSpc>
                <a:spcPct val="106000"/>
              </a:lnSpc>
              <a:spcBef>
                <a:spcPts val="500"/>
              </a:spcBef>
              <a:spcAft>
                <a:spcPts val="500"/>
              </a:spcAft>
              <a:buSzPts val="1000"/>
              <a:buFont typeface="Wingdings" panose="05000000000000000000" pitchFamily="2" charset="2"/>
              <a:buChar char="§"/>
            </a:pPr>
            <a:r>
              <a:rPr lang="fr-FR" sz="1100" b="1" kern="0" dirty="0">
                <a:effectLst/>
                <a:latin typeface="+mn-lt"/>
                <a:ea typeface="Times New Roman" panose="02020603050405020304" pitchFamily="18" charset="0"/>
                <a:cs typeface="Times New Roman" panose="02020603050405020304" pitchFamily="18" charset="0"/>
              </a:rPr>
              <a:t>Optimiser la gestion des stocks</a:t>
            </a:r>
            <a:r>
              <a:rPr lang="fr-FR" sz="1100" kern="0" dirty="0">
                <a:effectLst/>
                <a:latin typeface="+mn-lt"/>
                <a:ea typeface="Times New Roman" panose="02020603050405020304" pitchFamily="18" charset="0"/>
                <a:cs typeface="Times New Roman" panose="02020603050405020304" pitchFamily="18" charset="0"/>
              </a:rPr>
              <a:t> pour éviter les surcoûts liés au surstockage.</a:t>
            </a:r>
            <a:endParaRPr lang="en-GB" sz="1100" kern="150" dirty="0">
              <a:effectLst/>
              <a:latin typeface="+mn-lt"/>
              <a:ea typeface="Calibri" panose="020F0502020204030204" pitchFamily="34" charset="0"/>
              <a:cs typeface="Times New Roman" panose="02020603050405020304" pitchFamily="18" charset="0"/>
            </a:endParaRPr>
          </a:p>
          <a:p>
            <a:pPr marL="342900" lvl="0" indent="-342900">
              <a:lnSpc>
                <a:spcPct val="106000"/>
              </a:lnSpc>
              <a:spcBef>
                <a:spcPts val="500"/>
              </a:spcBef>
              <a:spcAft>
                <a:spcPts val="500"/>
              </a:spcAft>
              <a:buSzPts val="1000"/>
              <a:buFont typeface="Wingdings" panose="05000000000000000000" pitchFamily="2" charset="2"/>
              <a:buChar char="§"/>
            </a:pPr>
            <a:r>
              <a:rPr lang="fr-FR" sz="1100" b="1" kern="0" dirty="0">
                <a:effectLst/>
                <a:latin typeface="+mn-lt"/>
                <a:ea typeface="Times New Roman" panose="02020603050405020304" pitchFamily="18" charset="0"/>
                <a:cs typeface="Times New Roman" panose="02020603050405020304" pitchFamily="18" charset="0"/>
              </a:rPr>
              <a:t>Ajuster les prix des produits</a:t>
            </a:r>
            <a:r>
              <a:rPr lang="fr-FR" sz="1100" kern="0" dirty="0">
                <a:effectLst/>
                <a:latin typeface="+mn-lt"/>
                <a:ea typeface="Times New Roman" panose="02020603050405020304" pitchFamily="18" charset="0"/>
                <a:cs typeface="Times New Roman" panose="02020603050405020304" pitchFamily="18" charset="0"/>
              </a:rPr>
              <a:t> pour maximiser les ventes et la rentabilité, notamment pour les produits avec des marges négatives.</a:t>
            </a:r>
            <a:endParaRPr lang="en-GB" sz="1100" kern="150" dirty="0">
              <a:effectLst/>
              <a:latin typeface="+mn-lt"/>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104" name="Google Shape;104;g13f9e8f1567_0_7"/>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ea typeface="Montserrat"/>
                <a:cs typeface="Montserrat"/>
                <a:sym typeface="Montserrat"/>
              </a:rPr>
              <a:t>Point sur les compétences apprises</a:t>
            </a:r>
            <a:endParaRPr lang="fr-FR" noProof="0" dirty="0"/>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Clr>
                <a:srgbClr val="999999"/>
              </a:buClr>
              <a:buSzPts val="1800"/>
              <a:buNone/>
            </a:pPr>
            <a:r>
              <a:rPr lang="fr-FR" sz="1050" b="1" noProof="0" dirty="0">
                <a:solidFill>
                  <a:schemeClr val="tx1"/>
                </a:solidFill>
                <a:latin typeface="+mn-lt"/>
                <a:ea typeface="Montserrat"/>
                <a:cs typeface="Montserrat"/>
                <a:sym typeface="Montserrat"/>
              </a:rPr>
              <a:t>Ce qui s’est bien passé dans ce projet:</a:t>
            </a:r>
          </a:p>
          <a:p>
            <a:pPr marL="114300" lvl="0" indent="0" algn="l" rtl="0">
              <a:lnSpc>
                <a:spcPct val="115000"/>
              </a:lnSpc>
              <a:spcBef>
                <a:spcPts val="0"/>
              </a:spcBef>
              <a:spcAft>
                <a:spcPts val="0"/>
              </a:spcAft>
              <a:buClr>
                <a:srgbClr val="999999"/>
              </a:buClr>
              <a:buSzPts val="1800"/>
              <a:buNone/>
            </a:pPr>
            <a:endParaRPr lang="fr-FR" sz="1050" b="1" noProof="0" dirty="0">
              <a:solidFill>
                <a:schemeClr val="tx1"/>
              </a:solidFill>
              <a:latin typeface="+mn-lt"/>
              <a:ea typeface="Montserrat"/>
              <a:cs typeface="Montserrat"/>
              <a:sym typeface="Montserrat"/>
            </a:endParaRPr>
          </a:p>
          <a:p>
            <a:pPr lvl="0" algn="l" rtl="0">
              <a:lnSpc>
                <a:spcPct val="115000"/>
              </a:lnSpc>
              <a:spcBef>
                <a:spcPts val="0"/>
              </a:spcBef>
              <a:spcAft>
                <a:spcPts val="0"/>
              </a:spcAft>
              <a:buClr>
                <a:srgbClr val="999999"/>
              </a:buClr>
              <a:buSzPts val="1800"/>
              <a:buFont typeface="Wingdings" panose="05000000000000000000" pitchFamily="2" charset="2"/>
              <a:buChar char="Ø"/>
            </a:pPr>
            <a:r>
              <a:rPr lang="fr-FR" sz="1050" dirty="0">
                <a:solidFill>
                  <a:schemeClr val="tx1"/>
                </a:solidFill>
              </a:rPr>
              <a:t>Amélioration de la qualité des données </a:t>
            </a:r>
          </a:p>
          <a:p>
            <a:pPr marL="114300" lvl="0" indent="0" algn="l" rtl="0">
              <a:lnSpc>
                <a:spcPct val="115000"/>
              </a:lnSpc>
              <a:spcBef>
                <a:spcPts val="0"/>
              </a:spcBef>
              <a:spcAft>
                <a:spcPts val="0"/>
              </a:spcAft>
              <a:buClr>
                <a:srgbClr val="999999"/>
              </a:buClr>
              <a:buSzPts val="1800"/>
              <a:buNone/>
            </a:pPr>
            <a:endParaRPr lang="fr-FR" sz="1050" dirty="0">
              <a:solidFill>
                <a:schemeClr val="tx1"/>
              </a:solidFill>
            </a:endParaRPr>
          </a:p>
          <a:p>
            <a:pPr lvl="0" algn="l" rtl="0">
              <a:lnSpc>
                <a:spcPct val="115000"/>
              </a:lnSpc>
              <a:spcBef>
                <a:spcPts val="0"/>
              </a:spcBef>
              <a:spcAft>
                <a:spcPts val="0"/>
              </a:spcAft>
              <a:buClr>
                <a:srgbClr val="999999"/>
              </a:buClr>
              <a:buSzPts val="1800"/>
              <a:buFont typeface="Wingdings" panose="05000000000000000000" pitchFamily="2" charset="2"/>
              <a:buChar char="Ø"/>
            </a:pPr>
            <a:r>
              <a:rPr lang="fr-FR" sz="1050" dirty="0">
                <a:solidFill>
                  <a:schemeClr val="tx1"/>
                </a:solidFill>
              </a:rPr>
              <a:t>Développement de compétences</a:t>
            </a:r>
          </a:p>
          <a:p>
            <a:pPr marL="114300" lvl="0" indent="0" algn="l" rtl="0">
              <a:lnSpc>
                <a:spcPct val="115000"/>
              </a:lnSpc>
              <a:spcBef>
                <a:spcPts val="0"/>
              </a:spcBef>
              <a:spcAft>
                <a:spcPts val="0"/>
              </a:spcAft>
              <a:buClr>
                <a:srgbClr val="999999"/>
              </a:buClr>
              <a:buSzPts val="1800"/>
              <a:buNone/>
            </a:pPr>
            <a:endParaRPr lang="fr-FR" sz="1050" dirty="0">
              <a:solidFill>
                <a:schemeClr val="tx1"/>
              </a:solidFill>
            </a:endParaRPr>
          </a:p>
          <a:p>
            <a:pPr marL="114300" lvl="0" indent="0" algn="l" rtl="0">
              <a:lnSpc>
                <a:spcPct val="115000"/>
              </a:lnSpc>
              <a:spcBef>
                <a:spcPts val="0"/>
              </a:spcBef>
              <a:spcAft>
                <a:spcPts val="0"/>
              </a:spcAft>
              <a:buClr>
                <a:srgbClr val="999999"/>
              </a:buClr>
              <a:buSzPts val="1800"/>
              <a:buNone/>
            </a:pPr>
            <a:r>
              <a:rPr lang="fr-FR" sz="1050" b="1" dirty="0">
                <a:solidFill>
                  <a:schemeClr val="tx1"/>
                </a:solidFill>
              </a:rPr>
              <a:t>Les difficultés rencontrées:</a:t>
            </a:r>
          </a:p>
          <a:p>
            <a:pPr lvl="0" algn="l" rtl="0">
              <a:lnSpc>
                <a:spcPct val="115000"/>
              </a:lnSpc>
              <a:spcBef>
                <a:spcPts val="0"/>
              </a:spcBef>
              <a:spcAft>
                <a:spcPts val="0"/>
              </a:spcAft>
              <a:buClr>
                <a:srgbClr val="999999"/>
              </a:buClr>
              <a:buSzPts val="1800"/>
              <a:buFont typeface="Wingdings" panose="05000000000000000000" pitchFamily="2" charset="2"/>
              <a:buChar char="Ø"/>
            </a:pPr>
            <a:endParaRPr lang="fr-FR" sz="1050" dirty="0">
              <a:solidFill>
                <a:schemeClr val="tx1"/>
              </a:solidFill>
            </a:endParaRPr>
          </a:p>
          <a:p>
            <a:pPr lvl="0" algn="l" rtl="0">
              <a:lnSpc>
                <a:spcPct val="115000"/>
              </a:lnSpc>
              <a:spcBef>
                <a:spcPts val="0"/>
              </a:spcBef>
              <a:spcAft>
                <a:spcPts val="0"/>
              </a:spcAft>
              <a:buClr>
                <a:srgbClr val="999999"/>
              </a:buClr>
              <a:buSzPts val="1800"/>
              <a:buFont typeface="Wingdings" panose="05000000000000000000" pitchFamily="2" charset="2"/>
              <a:buChar char="Ø"/>
            </a:pPr>
            <a:r>
              <a:rPr lang="fr-FR" sz="1050" dirty="0">
                <a:solidFill>
                  <a:schemeClr val="tx1"/>
                </a:solidFill>
              </a:rPr>
              <a:t>Impossibilité d’interagir avec le métier</a:t>
            </a:r>
          </a:p>
          <a:p>
            <a:pPr lvl="0" algn="l" rtl="0">
              <a:lnSpc>
                <a:spcPct val="115000"/>
              </a:lnSpc>
              <a:spcBef>
                <a:spcPts val="0"/>
              </a:spcBef>
              <a:spcAft>
                <a:spcPts val="0"/>
              </a:spcAft>
              <a:buClr>
                <a:srgbClr val="999999"/>
              </a:buClr>
              <a:buSzPts val="1800"/>
              <a:buFont typeface="Wingdings" panose="05000000000000000000" pitchFamily="2" charset="2"/>
              <a:buChar char="Ø"/>
            </a:pPr>
            <a:endParaRPr lang="fr-FR" sz="1050" dirty="0">
              <a:solidFill>
                <a:schemeClr val="tx1"/>
              </a:solidFill>
            </a:endParaRPr>
          </a:p>
          <a:p>
            <a:pPr lvl="0" algn="l" rtl="0">
              <a:lnSpc>
                <a:spcPct val="115000"/>
              </a:lnSpc>
              <a:spcBef>
                <a:spcPts val="0"/>
              </a:spcBef>
              <a:spcAft>
                <a:spcPts val="0"/>
              </a:spcAft>
              <a:buClr>
                <a:srgbClr val="999999"/>
              </a:buClr>
              <a:buSzPts val="1800"/>
              <a:buFont typeface="Wingdings" panose="05000000000000000000" pitchFamily="2" charset="2"/>
              <a:buChar char="Ø"/>
            </a:pPr>
            <a:r>
              <a:rPr lang="fr-FR" sz="1050" dirty="0">
                <a:solidFill>
                  <a:schemeClr val="tx1"/>
                </a:solidFill>
              </a:rPr>
              <a:t>Difficultés technique liées au code</a:t>
            </a:r>
            <a:br>
              <a:rPr lang="fr-FR" sz="1050" b="1" dirty="0">
                <a:solidFill>
                  <a:schemeClr val="tx1"/>
                </a:solidFill>
                <a:latin typeface="+mn-lt"/>
                <a:ea typeface="Montserrat"/>
                <a:cs typeface="Montserrat"/>
                <a:sym typeface="Montserrat"/>
              </a:rPr>
            </a:br>
            <a:endParaRPr lang="fr-FR" sz="1050" b="1" dirty="0">
              <a:solidFill>
                <a:schemeClr val="tx1"/>
              </a:solidFill>
              <a:latin typeface="+mn-lt"/>
              <a:ea typeface="Montserrat"/>
              <a:cs typeface="Montserrat"/>
              <a:sym typeface="Montserrat"/>
            </a:endParaRPr>
          </a:p>
          <a:p>
            <a:pPr marL="114300" lvl="0" indent="0" algn="l" rtl="0">
              <a:lnSpc>
                <a:spcPct val="115000"/>
              </a:lnSpc>
              <a:spcBef>
                <a:spcPts val="0"/>
              </a:spcBef>
              <a:spcAft>
                <a:spcPts val="0"/>
              </a:spcAft>
              <a:buClr>
                <a:srgbClr val="999999"/>
              </a:buClr>
              <a:buSzPts val="1800"/>
              <a:buNone/>
            </a:pPr>
            <a:r>
              <a:rPr lang="fr-FR" sz="1050" b="1" noProof="0" dirty="0">
                <a:solidFill>
                  <a:schemeClr val="tx1"/>
                </a:solidFill>
                <a:latin typeface="+mn-lt"/>
                <a:ea typeface="Montserrat"/>
                <a:cs typeface="Montserrat"/>
                <a:sym typeface="Montserrat"/>
              </a:rPr>
              <a:t>Points à améliorer</a:t>
            </a:r>
          </a:p>
          <a:p>
            <a:pPr marL="114300" lvl="0" indent="0" algn="l" rtl="0">
              <a:lnSpc>
                <a:spcPct val="115000"/>
              </a:lnSpc>
              <a:spcBef>
                <a:spcPts val="0"/>
              </a:spcBef>
              <a:spcAft>
                <a:spcPts val="0"/>
              </a:spcAft>
              <a:buClr>
                <a:srgbClr val="999999"/>
              </a:buClr>
              <a:buSzPts val="1800"/>
              <a:buNone/>
            </a:pPr>
            <a:endParaRPr lang="fr-FR" sz="1050" b="1" noProof="0" dirty="0">
              <a:solidFill>
                <a:schemeClr val="tx1"/>
              </a:solidFill>
              <a:latin typeface="+mn-l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CC24B37A-A4DE-0A96-46E1-07A3878C4050}"/>
            </a:ext>
          </a:extLst>
        </p:cNvPr>
        <p:cNvGrpSpPr/>
        <p:nvPr/>
      </p:nvGrpSpPr>
      <p:grpSpPr>
        <a:xfrm>
          <a:off x="0" y="0"/>
          <a:ext cx="0" cy="0"/>
          <a:chOff x="0" y="0"/>
          <a:chExt cx="0" cy="0"/>
        </a:xfrm>
      </p:grpSpPr>
      <p:sp>
        <p:nvSpPr>
          <p:cNvPr id="103" name="Google Shape;103;g13f9e8f1567_0_7">
            <a:extLst>
              <a:ext uri="{FF2B5EF4-FFF2-40B4-BE49-F238E27FC236}">
                <a16:creationId xmlns:a16="http://schemas.microsoft.com/office/drawing/2014/main" id="{0AB06657-8FC0-B9CF-4394-5DA0C8BC07C0}"/>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104" name="Google Shape;104;g13f9e8f1567_0_7">
            <a:extLst>
              <a:ext uri="{FF2B5EF4-FFF2-40B4-BE49-F238E27FC236}">
                <a16:creationId xmlns:a16="http://schemas.microsoft.com/office/drawing/2014/main" id="{1488CEF3-782D-4189-8BAA-98CD0D846EC1}"/>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FR" sz="2500" noProof="0" dirty="0">
                <a:solidFill>
                  <a:srgbClr val="F3F3F3"/>
                </a:solidFill>
                <a:latin typeface="Montserrat"/>
                <a:ea typeface="Montserrat"/>
                <a:cs typeface="Montserrat"/>
                <a:sym typeface="Montserrat"/>
              </a:rPr>
              <a:t>Conclusion</a:t>
            </a:r>
            <a:endParaRPr lang="fr-FR" noProof="0" dirty="0"/>
          </a:p>
        </p:txBody>
      </p:sp>
      <p:sp>
        <p:nvSpPr>
          <p:cNvPr id="105" name="Google Shape;105;g13f9e8f1567_0_7">
            <a:extLst>
              <a:ext uri="{FF2B5EF4-FFF2-40B4-BE49-F238E27FC236}">
                <a16:creationId xmlns:a16="http://schemas.microsoft.com/office/drawing/2014/main" id="{0022D8B1-86EA-311F-D714-73ED5187570C}"/>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fr-FR" sz="1400" b="0" i="0" u="none" strike="noStrike" cap="none" noProof="0" dirty="0">
              <a:solidFill>
                <a:srgbClr val="000000"/>
              </a:solidFill>
              <a:latin typeface="Arial"/>
              <a:ea typeface="Arial"/>
              <a:cs typeface="Arial"/>
              <a:sym typeface="Arial"/>
            </a:endParaRPr>
          </a:p>
        </p:txBody>
      </p:sp>
      <p:sp>
        <p:nvSpPr>
          <p:cNvPr id="3" name="ZoneTexte 2">
            <a:extLst>
              <a:ext uri="{FF2B5EF4-FFF2-40B4-BE49-F238E27FC236}">
                <a16:creationId xmlns:a16="http://schemas.microsoft.com/office/drawing/2014/main" id="{D8A3299E-4993-8836-3DA6-D6D1CF6CD804}"/>
              </a:ext>
            </a:extLst>
          </p:cNvPr>
          <p:cNvSpPr txBox="1"/>
          <p:nvPr/>
        </p:nvSpPr>
        <p:spPr>
          <a:xfrm>
            <a:off x="446999" y="1525333"/>
            <a:ext cx="6974992" cy="1585049"/>
          </a:xfrm>
          <a:prstGeom prst="rect">
            <a:avLst/>
          </a:prstGeom>
          <a:noFill/>
        </p:spPr>
        <p:txBody>
          <a:bodyPr wrap="square">
            <a:spAutoFit/>
          </a:bodyPr>
          <a:lstStyle/>
          <a:p>
            <a:pPr>
              <a:spcBef>
                <a:spcPts val="500"/>
              </a:spcBef>
              <a:spcAft>
                <a:spcPts val="500"/>
              </a:spcAft>
            </a:pPr>
            <a:r>
              <a:rPr lang="fr-FR" sz="1050" b="1" dirty="0">
                <a:effectLst/>
                <a:latin typeface="+mn-lt"/>
                <a:ea typeface="Times New Roman" panose="02020603050405020304" pitchFamily="18" charset="0"/>
              </a:rPr>
              <a:t>Conclusion:</a:t>
            </a:r>
          </a:p>
          <a:p>
            <a:pPr>
              <a:spcBef>
                <a:spcPts val="500"/>
              </a:spcBef>
              <a:spcAft>
                <a:spcPts val="500"/>
              </a:spcAft>
            </a:pPr>
            <a:r>
              <a:rPr lang="fr-FR" sz="1200" dirty="0">
                <a:effectLst/>
                <a:latin typeface="+mn-lt"/>
                <a:ea typeface="Times New Roman" panose="02020603050405020304" pitchFamily="18" charset="0"/>
              </a:rPr>
              <a:t>ce projet m'a permis de consolider mes compétences en nettoyage de données, analyse statistique et consolidation de </a:t>
            </a:r>
            <a:r>
              <a:rPr lang="fr-FR" sz="1200" dirty="0" err="1">
                <a:effectLst/>
                <a:latin typeface="+mn-lt"/>
                <a:ea typeface="Times New Roman" panose="02020603050405020304" pitchFamily="18" charset="0"/>
              </a:rPr>
              <a:t>datasets</a:t>
            </a:r>
            <a:r>
              <a:rPr lang="fr-FR" sz="1200" dirty="0">
                <a:effectLst/>
                <a:latin typeface="+mn-lt"/>
                <a:ea typeface="Times New Roman" panose="02020603050405020304" pitchFamily="18" charset="0"/>
              </a:rPr>
              <a:t>. Il a également souligné l'importance cruciale de la qualité des données pour garantir des analyses fiables et pertinentes.</a:t>
            </a:r>
            <a:endParaRPr lang="en-GB" sz="1200" dirty="0">
              <a:effectLst/>
              <a:latin typeface="+mn-lt"/>
              <a:ea typeface="Times New Roman" panose="02020603050405020304" pitchFamily="18" charset="0"/>
            </a:endParaRPr>
          </a:p>
          <a:p>
            <a:pPr>
              <a:spcBef>
                <a:spcPts val="500"/>
              </a:spcBef>
              <a:spcAft>
                <a:spcPts val="500"/>
              </a:spcAft>
            </a:pPr>
            <a:r>
              <a:rPr lang="fr-FR" sz="1200" dirty="0">
                <a:effectLst/>
                <a:latin typeface="+mn-lt"/>
                <a:ea typeface="Times New Roman" panose="02020603050405020304" pitchFamily="18" charset="0"/>
              </a:rPr>
              <a:t> </a:t>
            </a:r>
            <a:endParaRPr lang="en-GB" sz="1200" dirty="0">
              <a:effectLst/>
              <a:latin typeface="+mn-lt"/>
              <a:ea typeface="Times New Roman" panose="02020603050405020304" pitchFamily="18" charset="0"/>
            </a:endParaRPr>
          </a:p>
          <a:p>
            <a:pPr>
              <a:spcBef>
                <a:spcPts val="500"/>
              </a:spcBef>
              <a:spcAft>
                <a:spcPts val="500"/>
              </a:spcAft>
            </a:pPr>
            <a:r>
              <a:rPr lang="fr-FR" sz="1200" dirty="0">
                <a:effectLst/>
                <a:latin typeface="+mn-lt"/>
                <a:ea typeface="Times New Roman" panose="02020603050405020304" pitchFamily="18" charset="0"/>
              </a:rPr>
              <a:t>Je vous remercie pour votre attention et me tiens à votre disposition pour répondre à vos questions.</a:t>
            </a:r>
            <a:endParaRPr lang="en-GB" sz="1200" dirty="0">
              <a:effectLst/>
              <a:latin typeface="+mn-lt"/>
              <a:ea typeface="Times New Roman" panose="02020603050405020304" pitchFamily="18" charset="0"/>
            </a:endParaRPr>
          </a:p>
        </p:txBody>
      </p:sp>
    </p:spTree>
    <p:extLst>
      <p:ext uri="{BB962C8B-B14F-4D97-AF65-F5344CB8AC3E}">
        <p14:creationId xmlns:p14="http://schemas.microsoft.com/office/powerpoint/2010/main" val="3794148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5119</TotalTime>
  <Words>1599</Words>
  <Application>Microsoft Office PowerPoint</Application>
  <PresentationFormat>Affichage à l'écran (16:9)</PresentationFormat>
  <Paragraphs>189</Paragraphs>
  <Slides>18</Slides>
  <Notes>18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Montserrat</vt:lpstr>
      <vt:lpstr>Symbol</vt:lpstr>
      <vt:lpstr>system-ui</vt:lpstr>
      <vt:lpstr>Arial</vt:lpstr>
      <vt:lpstr>Calibri</vt:lpstr>
      <vt:lpstr>Wingdings</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AMER MESSAOUD</cp:lastModifiedBy>
  <cp:revision>29</cp:revision>
  <dcterms:modified xsi:type="dcterms:W3CDTF">2024-09-27T05:24:38Z</dcterms:modified>
</cp:coreProperties>
</file>